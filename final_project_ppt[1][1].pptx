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2" r:id="rId7"/>
    <p:sldId id="277" r:id="rId8"/>
    <p:sldId id="283" r:id="rId9"/>
    <p:sldId id="275" r:id="rId10"/>
    <p:sldId id="273" r:id="rId11"/>
    <p:sldId id="263" r:id="rId12"/>
    <p:sldId id="282" r:id="rId13"/>
    <p:sldId id="281" r:id="rId14"/>
    <p:sldId id="280" r:id="rId15"/>
    <p:sldId id="278" r:id="rId16"/>
    <p:sldId id="279" r:id="rId17"/>
    <p:sldId id="267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41" autoAdjust="0"/>
    <p:restoredTop sz="94660"/>
  </p:normalViewPr>
  <p:slideViewPr>
    <p:cSldViewPr>
      <p:cViewPr>
        <p:scale>
          <a:sx n="75" d="100"/>
          <a:sy n="75" d="100"/>
        </p:scale>
        <p:origin x="1530" y="7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45" dirty="0"/>
              <a:t> </a:t>
            </a:r>
            <a:r>
              <a:rPr dirty="0"/>
              <a:t>of CSE,</a:t>
            </a:r>
            <a:r>
              <a:rPr spc="-15" dirty="0"/>
              <a:t> </a:t>
            </a:r>
            <a:r>
              <a:rPr spc="-10" dirty="0"/>
              <a:t>SJCIT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45" dirty="0"/>
              <a:t> </a:t>
            </a:r>
            <a:r>
              <a:rPr dirty="0"/>
              <a:t>of CSE,</a:t>
            </a:r>
            <a:r>
              <a:rPr spc="-15" dirty="0"/>
              <a:t> </a:t>
            </a:r>
            <a:r>
              <a:rPr spc="-10" dirty="0"/>
              <a:t>SJCIT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45" dirty="0"/>
              <a:t> </a:t>
            </a:r>
            <a:r>
              <a:rPr dirty="0"/>
              <a:t>of CSE,</a:t>
            </a:r>
            <a:r>
              <a:rPr spc="-15" dirty="0"/>
              <a:t> </a:t>
            </a:r>
            <a:r>
              <a:rPr spc="-10" dirty="0"/>
              <a:t>SJCIT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7375" y="0"/>
            <a:ext cx="1444625" cy="11239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8647" y="2911943"/>
            <a:ext cx="7191472" cy="9138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45" dirty="0"/>
              <a:t> </a:t>
            </a:r>
            <a:r>
              <a:rPr dirty="0"/>
              <a:t>of CSE,</a:t>
            </a:r>
            <a:r>
              <a:rPr spc="-15" dirty="0"/>
              <a:t> </a:t>
            </a:r>
            <a:r>
              <a:rPr spc="-10" dirty="0"/>
              <a:t>SJCIT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45" dirty="0"/>
              <a:t> </a:t>
            </a:r>
            <a:r>
              <a:rPr dirty="0"/>
              <a:t>of CSE,</a:t>
            </a:r>
            <a:r>
              <a:rPr spc="-15" dirty="0"/>
              <a:t> </a:t>
            </a:r>
            <a:r>
              <a:rPr spc="-10" dirty="0"/>
              <a:t>SJCIT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47375" y="0"/>
            <a:ext cx="1444625" cy="11239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75713" y="316814"/>
            <a:ext cx="8640572" cy="846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9113" y="1395073"/>
            <a:ext cx="9713595" cy="3695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12053" y="6464680"/>
            <a:ext cx="11696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45" dirty="0"/>
              <a:t> </a:t>
            </a:r>
            <a:r>
              <a:rPr dirty="0"/>
              <a:t>of CSE,</a:t>
            </a:r>
            <a:r>
              <a:rPr spc="-15" dirty="0"/>
              <a:t> </a:t>
            </a:r>
            <a:r>
              <a:rPr spc="-10" dirty="0"/>
              <a:t>SJCIT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23066" y="6447704"/>
            <a:ext cx="219709" cy="195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7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300443"/>
            <a:ext cx="9743440" cy="1530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5079" marR="3806190" algn="ctr">
              <a:lnSpc>
                <a:spcPct val="120000"/>
              </a:lnSpc>
              <a:spcBef>
                <a:spcPts val="100"/>
              </a:spcBef>
            </a:pPr>
            <a:r>
              <a:rPr lang="en-IN" sz="2400" b="0" spc="-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sz="3200" b="0" dirty="0">
                <a:solidFill>
                  <a:srgbClr val="375F92"/>
                </a:solidFill>
                <a:latin typeface="Times New Roman"/>
                <a:cs typeface="Times New Roman"/>
              </a:rPr>
              <a:t>“</a:t>
            </a:r>
            <a:r>
              <a:rPr lang="en-US" dirty="0"/>
              <a:t>Low-Light Image Enhancement and Denoising Using Deep Learning Techniques</a:t>
            </a:r>
            <a:r>
              <a:rPr sz="3200" b="0" spc="-20" dirty="0">
                <a:solidFill>
                  <a:srgbClr val="375F92"/>
                </a:solidFill>
                <a:latin typeface="Times New Roman"/>
                <a:cs typeface="Times New Roman"/>
              </a:rPr>
              <a:t>”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8323" y="3124200"/>
            <a:ext cx="7515353" cy="34086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62230" algn="ctr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r>
              <a:rPr lang="en-US" sz="2000" dirty="0">
                <a:latin typeface="Times New Roman"/>
                <a:cs typeface="Times New Roman"/>
              </a:rPr>
              <a:t>   1 </a:t>
            </a:r>
            <a:r>
              <a:rPr lang="en-US" sz="2000" b="1" dirty="0" err="1">
                <a:latin typeface="Times New Roman"/>
                <a:cs typeface="Times New Roman"/>
              </a:rPr>
              <a:t>Ajaganna</a:t>
            </a:r>
            <a:r>
              <a:rPr lang="en-US" sz="2000" b="1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                                                         1SJ22CS006</a:t>
            </a:r>
          </a:p>
          <a:p>
            <a:pPr>
              <a:lnSpc>
                <a:spcPct val="100000"/>
              </a:lnSpc>
              <a:spcBef>
                <a:spcPts val="1060"/>
              </a:spcBef>
            </a:pPr>
            <a:r>
              <a:rPr lang="en-US" sz="2000" dirty="0">
                <a:latin typeface="Times New Roman"/>
                <a:cs typeface="Times New Roman"/>
              </a:rPr>
              <a:t>   2 </a:t>
            </a:r>
            <a:r>
              <a:rPr lang="en-US" sz="2000" b="1" dirty="0">
                <a:latin typeface="Times New Roman"/>
                <a:cs typeface="Times New Roman"/>
              </a:rPr>
              <a:t>Akash </a:t>
            </a:r>
            <a:r>
              <a:rPr lang="en-US" sz="2000" dirty="0">
                <a:latin typeface="Times New Roman"/>
                <a:cs typeface="Times New Roman"/>
              </a:rPr>
              <a:t>                                                              1SJ22CS007</a:t>
            </a:r>
          </a:p>
          <a:p>
            <a:pPr>
              <a:lnSpc>
                <a:spcPct val="100000"/>
              </a:lnSpc>
              <a:spcBef>
                <a:spcPts val="1060"/>
              </a:spcBef>
            </a:pPr>
            <a:r>
              <a:rPr lang="en-US" sz="2000" dirty="0">
                <a:latin typeface="Times New Roman"/>
                <a:cs typeface="Times New Roman"/>
              </a:rPr>
              <a:t>   3 </a:t>
            </a:r>
            <a:r>
              <a:rPr lang="en-US" sz="2000" b="1" dirty="0" err="1">
                <a:latin typeface="Times New Roman"/>
                <a:cs typeface="Times New Roman"/>
              </a:rPr>
              <a:t>Akshay</a:t>
            </a:r>
            <a:r>
              <a:rPr lang="en-US" sz="2000" b="1" dirty="0">
                <a:latin typeface="Times New Roman"/>
                <a:cs typeface="Times New Roman"/>
              </a:rPr>
              <a:t> M S                                                     </a:t>
            </a:r>
            <a:r>
              <a:rPr lang="en-US" sz="2000" dirty="0">
                <a:latin typeface="Times New Roman"/>
                <a:cs typeface="Times New Roman"/>
              </a:rPr>
              <a:t>1SJ22CS008</a:t>
            </a:r>
          </a:p>
          <a:p>
            <a:pPr>
              <a:lnSpc>
                <a:spcPct val="100000"/>
              </a:lnSpc>
              <a:spcBef>
                <a:spcPts val="1060"/>
              </a:spcBef>
            </a:pPr>
            <a:r>
              <a:rPr lang="en-US" sz="2000" dirty="0">
                <a:latin typeface="Times New Roman"/>
                <a:cs typeface="Times New Roman"/>
              </a:rPr>
              <a:t>   4 </a:t>
            </a:r>
            <a:r>
              <a:rPr lang="en-US" sz="2000" b="1" dirty="0" err="1">
                <a:latin typeface="Times New Roman"/>
                <a:cs typeface="Times New Roman"/>
              </a:rPr>
              <a:t>Bhargav</a:t>
            </a:r>
            <a:r>
              <a:rPr lang="en-US" sz="2000" b="1" dirty="0">
                <a:latin typeface="Times New Roman"/>
                <a:cs typeface="Times New Roman"/>
              </a:rPr>
              <a:t> V                                                        </a:t>
            </a:r>
            <a:r>
              <a:rPr lang="en-US" sz="2000" dirty="0">
                <a:latin typeface="Times New Roman"/>
                <a:cs typeface="Times New Roman"/>
              </a:rPr>
              <a:t>1SJ22CS024</a:t>
            </a:r>
            <a:endParaRPr sz="2000" dirty="0">
              <a:latin typeface="Times New Roman"/>
              <a:cs typeface="Times New Roman"/>
            </a:endParaRPr>
          </a:p>
          <a:p>
            <a:pPr marL="1414780" algn="just">
              <a:lnSpc>
                <a:spcPct val="100000"/>
              </a:lnSpc>
            </a:pPr>
            <a:r>
              <a:rPr lang="en-US" sz="2000" b="1" dirty="0">
                <a:latin typeface="Times New Roman"/>
                <a:cs typeface="Times New Roman"/>
              </a:rPr>
              <a:t>        </a:t>
            </a:r>
          </a:p>
          <a:p>
            <a:pPr marL="1414780" algn="just">
              <a:lnSpc>
                <a:spcPct val="100000"/>
              </a:lnSpc>
            </a:pPr>
            <a:r>
              <a:rPr lang="en-US" sz="2000" b="1" dirty="0">
                <a:latin typeface="Times New Roman"/>
                <a:cs typeface="Times New Roman"/>
              </a:rPr>
              <a:t>      </a:t>
            </a: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GUIDANCE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lang="en-US" sz="2000" b="1" spc="-25" dirty="0">
              <a:latin typeface="Times New Roman"/>
              <a:cs typeface="Times New Roman"/>
            </a:endParaRPr>
          </a:p>
          <a:p>
            <a:pPr marL="1414780" algn="just">
              <a:lnSpc>
                <a:spcPct val="100000"/>
              </a:lnSpc>
            </a:pPr>
            <a:r>
              <a:rPr lang="en-US" sz="2000" b="1" spc="-25" dirty="0">
                <a:latin typeface="Times New Roman"/>
                <a:cs typeface="Times New Roman"/>
              </a:rPr>
              <a:t>                   Dr </a:t>
            </a:r>
            <a:r>
              <a:rPr lang="en-US" sz="2000" b="1" spc="-25" dirty="0" err="1">
                <a:latin typeface="Times New Roman"/>
                <a:cs typeface="Times New Roman"/>
              </a:rPr>
              <a:t>Seshaiah</a:t>
            </a:r>
            <a:r>
              <a:rPr lang="en-US" sz="2000" b="1" spc="-25" dirty="0">
                <a:latin typeface="Times New Roman"/>
                <a:cs typeface="Times New Roman"/>
              </a:rPr>
              <a:t> M</a:t>
            </a:r>
          </a:p>
          <a:p>
            <a:pPr marL="1414780" algn="just">
              <a:lnSpc>
                <a:spcPct val="100000"/>
              </a:lnSpc>
            </a:pPr>
            <a:r>
              <a:rPr lang="en-US" sz="2000" b="1" spc="-25" dirty="0">
                <a:latin typeface="Times New Roman"/>
                <a:cs typeface="Times New Roman"/>
              </a:rPr>
              <a:t>Associate professor, Department of CSE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1989" y="-38"/>
            <a:ext cx="11360150" cy="1735455"/>
            <a:chOff x="831989" y="-38"/>
            <a:chExt cx="11360150" cy="1735455"/>
          </a:xfrm>
        </p:grpSpPr>
        <p:sp>
          <p:nvSpPr>
            <p:cNvPr id="5" name="object 5"/>
            <p:cNvSpPr/>
            <p:nvPr/>
          </p:nvSpPr>
          <p:spPr>
            <a:xfrm>
              <a:off x="10713085" y="-38"/>
              <a:ext cx="1478915" cy="1184910"/>
            </a:xfrm>
            <a:custGeom>
              <a:avLst/>
              <a:gdLst/>
              <a:ahLst/>
              <a:cxnLst/>
              <a:rect l="l" t="t" r="r" b="b"/>
              <a:pathLst>
                <a:path w="1478915" h="1184910">
                  <a:moveTo>
                    <a:pt x="1478915" y="0"/>
                  </a:moveTo>
                  <a:lnTo>
                    <a:pt x="0" y="0"/>
                  </a:lnTo>
                  <a:lnTo>
                    <a:pt x="0" y="1184567"/>
                  </a:lnTo>
                  <a:lnTo>
                    <a:pt x="1478915" y="1184567"/>
                  </a:lnTo>
                  <a:lnTo>
                    <a:pt x="14789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1989" y="110617"/>
              <a:ext cx="10214229" cy="16247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4048" y="316814"/>
            <a:ext cx="22669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CONTENTS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45" dirty="0"/>
              <a:t> </a:t>
            </a:r>
            <a:r>
              <a:rPr dirty="0"/>
              <a:t>of CSE,</a:t>
            </a:r>
            <a:r>
              <a:rPr spc="-15" dirty="0"/>
              <a:t> </a:t>
            </a:r>
            <a:r>
              <a:rPr spc="-10" dirty="0"/>
              <a:t>SJCIT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61925" y="520499"/>
            <a:ext cx="7967676" cy="602068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/>
              <a:t>Abstract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/>
              <a:t> Introduction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/>
              <a:t> Literature Survey (comparison with existing system) 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/>
              <a:t>Problem identification and definition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/>
              <a:t>Significance and relevance of work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/>
              <a:t>Objectives and methodology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/>
              <a:t>Plan of execution 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/>
              <a:t>SRS (System requirements specification) 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/>
              <a:t>System analysis and System Design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/>
              <a:t>implementation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/>
              <a:t>Testing 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/>
              <a:t>Results and discussion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romanU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Conclusion and future enhancements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506" rIns="0" bIns="0" rtlCol="0">
            <a:spAutoFit/>
          </a:bodyPr>
          <a:lstStyle/>
          <a:p>
            <a:pPr marL="314452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ABSTRACT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45" dirty="0"/>
              <a:t> </a:t>
            </a:r>
            <a:r>
              <a:rPr dirty="0"/>
              <a:t>of CSE,</a:t>
            </a:r>
            <a:r>
              <a:rPr spc="-15" dirty="0"/>
              <a:t> </a:t>
            </a:r>
            <a:r>
              <a:rPr spc="-10" dirty="0"/>
              <a:t>SJCIT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43000" y="1447800"/>
            <a:ext cx="9806685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Low-light conditions significantly degrade image quality, affecting applications such as surveillance, photography, and autonomous systems. To address this challenge, this project presents a hybrid solution that combines </a:t>
            </a:r>
            <a:r>
              <a:rPr lang="en-US" b="1" dirty="0" err="1"/>
              <a:t>DEDUNet</a:t>
            </a:r>
            <a:r>
              <a:rPr lang="en-US" dirty="0"/>
              <a:t>, a deep learning model for brightness enhancement and noise reduction, with advanced image processing techniques such as </a:t>
            </a:r>
            <a:r>
              <a:rPr lang="en-US" b="1" dirty="0"/>
              <a:t>gamma correction, CLAHE, selective enhancement, and color grading</a:t>
            </a:r>
            <a:r>
              <a:rPr lang="en-US" dirty="0"/>
              <a:t>. Furthermore, a web-based interactive interface has been developed, providing advanced color controls, real-time quality metrics (PSNR, SSIM, and Enhancement Score), and user feedback through a </a:t>
            </a:r>
            <a:r>
              <a:rPr lang="en-US" b="1" dirty="0"/>
              <a:t>5-star</a:t>
            </a:r>
            <a:r>
              <a:rPr lang="en-US" dirty="0"/>
              <a:t> rating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5713" y="316814"/>
            <a:ext cx="8640572" cy="781290"/>
          </a:xfrm>
          <a:prstGeom prst="rect">
            <a:avLst/>
          </a:prstGeom>
        </p:spPr>
        <p:txBody>
          <a:bodyPr vert="horz" wrap="square" lIns="0" tIns="286054" rIns="0" bIns="0" rtlCol="0">
            <a:spAutoFit/>
          </a:bodyPr>
          <a:lstStyle/>
          <a:p>
            <a:pPr marL="2894965" algn="just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INTRODUCTION</a:t>
            </a:r>
            <a:endParaRPr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45" dirty="0"/>
              <a:t> </a:t>
            </a:r>
            <a:r>
              <a:rPr dirty="0"/>
              <a:t>of CSE,</a:t>
            </a:r>
            <a:r>
              <a:rPr spc="-15" dirty="0"/>
              <a:t> </a:t>
            </a:r>
            <a:r>
              <a:rPr spc="-10" dirty="0"/>
              <a:t>SJCIT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66800" y="1496595"/>
            <a:ext cx="9538970" cy="45441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Low-light images often suffer from </a:t>
            </a:r>
            <a:r>
              <a:rPr lang="en-US" b="1" dirty="0"/>
              <a:t>poor brightness, high noise, and loss of details</a:t>
            </a:r>
            <a:r>
              <a:rPr lang="en-US" dirty="0"/>
              <a:t>, making it difficult for both humans and computer systems to understand them.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Traditional image enhancement methods can increase brightness, but they usually </a:t>
            </a:r>
            <a:r>
              <a:rPr lang="en-US" b="1" dirty="0"/>
              <a:t>distort colors or exaggerate noise</a:t>
            </a:r>
            <a:r>
              <a:rPr lang="en-US" dirty="0"/>
              <a:t>, resulting in unnatural outputs.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Deep learning techniques improve illumination more intelligently, but they may </a:t>
            </a:r>
            <a:r>
              <a:rPr lang="en-US" b="1" dirty="0"/>
              <a:t>smooth out fine textures</a:t>
            </a:r>
            <a:r>
              <a:rPr lang="en-US" dirty="0"/>
              <a:t> or offer </a:t>
            </a:r>
            <a:r>
              <a:rPr lang="en-US" b="1" dirty="0"/>
              <a:t>limited control</a:t>
            </a:r>
            <a:r>
              <a:rPr lang="en-US" dirty="0"/>
              <a:t> to the user.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To overcome these limitations, our project uses a </a:t>
            </a:r>
            <a:r>
              <a:rPr lang="en-US" b="1" dirty="0"/>
              <a:t>hybrid enhancement approach</a:t>
            </a:r>
            <a:r>
              <a:rPr lang="en-US" dirty="0"/>
              <a:t> that combines the strengths of </a:t>
            </a:r>
            <a:r>
              <a:rPr lang="en-US" b="1" dirty="0"/>
              <a:t>AI-based models</a:t>
            </a:r>
            <a:r>
              <a:rPr lang="en-US" dirty="0"/>
              <a:t> with </a:t>
            </a:r>
            <a:r>
              <a:rPr lang="en-US" b="1" dirty="0"/>
              <a:t>classical image processing methods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This integrated design helps produce images that are </a:t>
            </a:r>
            <a:r>
              <a:rPr lang="en-US" b="1" dirty="0"/>
              <a:t>clear, natural-looking, and noise-free</a:t>
            </a:r>
            <a:r>
              <a:rPr lang="en-US" dirty="0"/>
              <a:t>, while also being efficient enough for </a:t>
            </a:r>
            <a:r>
              <a:rPr lang="en-US" b="1" dirty="0"/>
              <a:t>real-time applications</a:t>
            </a:r>
            <a:r>
              <a:rPr lang="en-US" dirty="0"/>
              <a:t>.</a:t>
            </a:r>
          </a:p>
          <a:p>
            <a:pPr marL="12700" marR="5080" algn="just">
              <a:lnSpc>
                <a:spcPct val="150000"/>
              </a:lnSpc>
              <a:spcBef>
                <a:spcPts val="95"/>
              </a:spcBef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210859"/>
              </p:ext>
            </p:extLst>
          </p:nvPr>
        </p:nvGraphicFramePr>
        <p:xfrm>
          <a:off x="457200" y="990600"/>
          <a:ext cx="97536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r>
                        <a:rPr lang="en-US" dirty="0"/>
                        <a:t>Sl.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 &amp; Year of Publication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Methodology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Low-Light Image Enhancement by Principal Component Analysis</a:t>
                      </a:r>
                      <a:r>
                        <a:rPr lang="en-US" dirty="0"/>
                        <a:t> (2018)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PCA-based enhancement using feature projection to improve brightness and contrast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Lacks adaptive learning and fails in preserving texture under complex lighting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54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Single-Stage Unsupervised </a:t>
                      </a:r>
                      <a:r>
                        <a:rPr lang="en-US" i="1" dirty="0" err="1"/>
                        <a:t>Denoising</a:t>
                      </a:r>
                      <a:r>
                        <a:rPr lang="en-US" i="1" dirty="0"/>
                        <a:t> Low-Illumination Enhancement using </a:t>
                      </a:r>
                      <a:r>
                        <a:rPr lang="en-US" i="1" dirty="0" err="1"/>
                        <a:t>Swin</a:t>
                      </a:r>
                      <a:r>
                        <a:rPr lang="en-US" i="1" dirty="0"/>
                        <a:t> Transformer</a:t>
                      </a:r>
                      <a:r>
                        <a:rPr lang="en-US" dirty="0"/>
                        <a:t> (2023)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Swin Transformer-based unsupervised model for enhancement and denoising without paired training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computational cost, limiting real-time edge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07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Cross-Image Disentanglement for Low-Light Enhancement in Real World</a:t>
                      </a:r>
                      <a:r>
                        <a:rPr lang="en-US" dirty="0"/>
                        <a:t>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Disentangling illumination and content features via unpaired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complex training and fine-tuning for effective 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DEDU: Dual-Enhancing Dense-</a:t>
                      </a:r>
                      <a:r>
                        <a:rPr lang="en-US" i="1" dirty="0" err="1"/>
                        <a:t>UNet</a:t>
                      </a:r>
                      <a:r>
                        <a:rPr lang="en-US" i="1" dirty="0"/>
                        <a:t> for Lowlight Image Enhancement and </a:t>
                      </a:r>
                      <a:r>
                        <a:rPr lang="en-US" i="1" dirty="0" err="1"/>
                        <a:t>Denoise</a:t>
                      </a:r>
                      <a:r>
                        <a:rPr lang="en-US" dirty="0"/>
                        <a:t> (2024)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Dual-pathway Dense UNet separating structure and detail features for robust enhancement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Higher model complexity and increased training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133600" y="228600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119114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165100"/>
              </p:ext>
            </p:extLst>
          </p:nvPr>
        </p:nvGraphicFramePr>
        <p:xfrm>
          <a:off x="152400" y="838200"/>
          <a:ext cx="10668000" cy="5791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8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626">
                <a:tc>
                  <a:txBody>
                    <a:bodyPr/>
                    <a:lstStyle/>
                    <a:p>
                      <a:r>
                        <a:rPr lang="en-US" dirty="0"/>
                        <a:t>Sl.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Title &amp; Year of Publication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Methodology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4284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 err="1"/>
                        <a:t>DLDiff</a:t>
                      </a:r>
                      <a:r>
                        <a:rPr lang="en-US" i="1" dirty="0"/>
                        <a:t>: Image Detail-Guided Latent Diffusion Model for Low-Light Image Enhancement</a:t>
                      </a:r>
                      <a:r>
                        <a:rPr lang="en-US" dirty="0"/>
                        <a:t> (2023)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Uses latent diffusion guided by image details to enhance low-light images progressively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Computationally expensive; slower inference makes it less suitable for real-time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4284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Ghost Imaging in the Dark: A Multi-Illumination Estimation Network for Low-Light Image Enhancement</a:t>
                      </a:r>
                      <a:r>
                        <a:rPr lang="en-US" dirty="0"/>
                        <a:t> (2023)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Employs ghost imaging principles and multiple illumination estimations to enhance scene visibility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May introduce latency and perform poorly in extremely low-light or noisy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4284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Self-Supervision via Controlled Transformation and Unpaired Self-Conditioning for Low-Light Image Enhancement</a:t>
                      </a:r>
                      <a:r>
                        <a:rPr lang="en-US" dirty="0"/>
                        <a:t>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Trains the model without paired data using controlled transformations and self-conditioning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Might be less effective in highly diverse real-world settings without additional fine-tuning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4723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LRT: An Efficient Low-Light Restoration Transformer for Dark Light Field Images</a:t>
                      </a:r>
                      <a:r>
                        <a:rPr lang="en-US" dirty="0"/>
                        <a:t>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Applies Transformer-based restoration specifically for dark light field images using attention mechanisms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Demands high GPU memory and compute power, making it impractical for deployment on low-resource devices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76400" y="128885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2545613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92D67E-BC54-3388-BE9D-D0B81F8352BC}"/>
              </a:ext>
            </a:extLst>
          </p:cNvPr>
          <p:cNvSpPr txBox="1"/>
          <p:nvPr/>
        </p:nvSpPr>
        <p:spPr>
          <a:xfrm>
            <a:off x="381000" y="533400"/>
            <a:ext cx="10439400" cy="5704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		PROBLEM IDENTIFICATION &amp; DEFINITION</a:t>
            </a:r>
          </a:p>
          <a:p>
            <a:pPr>
              <a:buNone/>
            </a:pPr>
            <a:endParaRPr lang="en-US" b="1" dirty="0"/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Problem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Low-light images contain: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Underexposure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High noise levels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Color distortion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Loss of fine textures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Existing solutions either: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Over-enhance,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Produce artifacts, 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Fail in real-time applications.</a:t>
            </a:r>
          </a:p>
          <a:p>
            <a:pPr>
              <a:buNone/>
            </a:pPr>
            <a:endParaRPr lang="en-US" b="1" dirty="0"/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Definition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Developed a </a:t>
            </a:r>
            <a:r>
              <a:rPr lang="en-US" b="1" dirty="0"/>
              <a:t>hybrid low-light enhancement framework</a:t>
            </a:r>
            <a:r>
              <a:rPr lang="en-US" dirty="0"/>
              <a:t> that improves brightness, removes noise, preserves details, and works efficiently.</a:t>
            </a:r>
          </a:p>
        </p:txBody>
      </p:sp>
    </p:spTree>
    <p:extLst>
      <p:ext uri="{BB962C8B-B14F-4D97-AF65-F5344CB8AC3E}">
        <p14:creationId xmlns:p14="http://schemas.microsoft.com/office/powerpoint/2010/main" val="289216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860D92-6988-80EB-E8A4-DC00C5C89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447800"/>
            <a:ext cx="678180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images for photography, CCTV surveillance, medical imaging, autonomous systems.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natural-looking outputs where both brightness and details are balanced.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strengths of AI and classical methods—making it robust, flexible, and user-friendly.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real-time deployment through optimized processing.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DE6F8-ECEB-76F2-27D4-89B8C8042BA6}"/>
              </a:ext>
            </a:extLst>
          </p:cNvPr>
          <p:cNvSpPr txBox="1"/>
          <p:nvPr/>
        </p:nvSpPr>
        <p:spPr>
          <a:xfrm>
            <a:off x="2209800" y="609600"/>
            <a:ext cx="6117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SIGNIFICANCE &amp; RELEVANCE OF WORK </a:t>
            </a:r>
          </a:p>
        </p:txBody>
      </p:sp>
    </p:spTree>
    <p:extLst>
      <p:ext uri="{BB962C8B-B14F-4D97-AF65-F5344CB8AC3E}">
        <p14:creationId xmlns:p14="http://schemas.microsoft.com/office/powerpoint/2010/main" val="4026905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E6E59C-132E-D437-F429-283B5F9F2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84665"/>
            <a:ext cx="9906000" cy="6571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 AND METHODOLOGY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visibility and illumination in low-light images.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noise while preserving texture and fine details.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natural colors and sharp edges.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simple web application for real-time enhancement.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performance using PSNR, SSIM, and runtime.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DEDUNet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global illumination enhancement and denoising.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mask-guided correction to selectively improve darker regions.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classical refinement methods: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-CLAHE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-Gamma correction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-Histogram equalization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-Bilateral filtering / Non-Local Means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all steps into a hybrid enhancement pipeline.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the system as a web-based application with real-time preview and output evaluation.</a:t>
            </a:r>
          </a:p>
        </p:txBody>
      </p:sp>
    </p:spTree>
    <p:extLst>
      <p:ext uri="{BB962C8B-B14F-4D97-AF65-F5344CB8AC3E}">
        <p14:creationId xmlns:p14="http://schemas.microsoft.com/office/powerpoint/2010/main" val="2154456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09600" y="643944"/>
            <a:ext cx="10972800" cy="643944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PLAN OF EXECUTION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600" dirty="0"/>
              <a:t>Dept. of CSE, SJCIT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494E01-B3F2-1B2B-B57A-9D892D926A93}"/>
              </a:ext>
            </a:extLst>
          </p:cNvPr>
          <p:cNvSpPr txBox="1"/>
          <p:nvPr/>
        </p:nvSpPr>
        <p:spPr>
          <a:xfrm>
            <a:off x="762000" y="1175277"/>
            <a:ext cx="10668000" cy="522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GANTT CHART – 12 WEEK PROJECT PLAN</a:t>
            </a:r>
          </a:p>
          <a:p>
            <a:pPr algn="l">
              <a:lnSpc>
                <a:spcPct val="150000"/>
              </a:lnSpc>
              <a:buNone/>
            </a:pPr>
            <a:endParaRPr lang="en-US" sz="1400" b="1" dirty="0"/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Task                                      W1    W2    W3    W4    W5    W6    W7     W8     W9     W10      W11    W12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--------------------------------------------------------------------------------------------------------------------------------------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Literature Review               </a:t>
            </a:r>
            <a:r>
              <a:rPr lang="en-US" sz="1400" b="1" dirty="0">
                <a:solidFill>
                  <a:srgbClr val="00B050"/>
                </a:solidFill>
              </a:rPr>
              <a:t>███   ███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Problem Definition &amp; Scope                </a:t>
            </a:r>
            <a:r>
              <a:rPr lang="en-US" sz="1400" b="1" dirty="0">
                <a:solidFill>
                  <a:srgbClr val="00B050"/>
                </a:solidFill>
              </a:rPr>
              <a:t>███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Dataset Collection &amp; Preprocessing            </a:t>
            </a:r>
            <a:r>
              <a:rPr lang="en-US" sz="1400" b="1" dirty="0">
                <a:solidFill>
                  <a:srgbClr val="00B050"/>
                </a:solidFill>
              </a:rPr>
              <a:t>███ ███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SRS &amp; System Design                                              </a:t>
            </a:r>
            <a:r>
              <a:rPr lang="en-US" sz="1400" b="1" dirty="0">
                <a:solidFill>
                  <a:srgbClr val="00B050"/>
                </a:solidFill>
              </a:rPr>
              <a:t>███ ███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AI Model Development (</a:t>
            </a:r>
            <a:r>
              <a:rPr lang="en-US" sz="1400" b="1" dirty="0" err="1"/>
              <a:t>DEDUNet</a:t>
            </a:r>
            <a:r>
              <a:rPr lang="en-US" sz="1400" b="1" dirty="0"/>
              <a:t>)                                    </a:t>
            </a:r>
            <a:r>
              <a:rPr lang="en-US" sz="1400" b="1" dirty="0">
                <a:solidFill>
                  <a:srgbClr val="00B050"/>
                </a:solidFill>
              </a:rPr>
              <a:t>███ ███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Training &amp; Model Tuning                                                                      </a:t>
            </a:r>
            <a:r>
              <a:rPr lang="en-US" sz="1400" b="1" dirty="0">
                <a:solidFill>
                  <a:srgbClr val="00B050"/>
                </a:solidFill>
              </a:rPr>
              <a:t>███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Classical Enhancement (CLAHE, Gamma, Filters)                                </a:t>
            </a:r>
            <a:r>
              <a:rPr lang="en-US" sz="1400" b="1" dirty="0">
                <a:solidFill>
                  <a:srgbClr val="00B050"/>
                </a:solidFill>
              </a:rPr>
              <a:t>███ ███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Hybrid Pipeline Finalization                                                                                      </a:t>
            </a:r>
            <a:r>
              <a:rPr lang="en-US" sz="1400" b="1" dirty="0">
                <a:solidFill>
                  <a:srgbClr val="00B050"/>
                </a:solidFill>
              </a:rPr>
              <a:t>███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Web App UI &amp; Backend Integration                                                                              </a:t>
            </a:r>
            <a:r>
              <a:rPr lang="en-US" sz="1400" b="1" dirty="0">
                <a:solidFill>
                  <a:srgbClr val="00B050"/>
                </a:solidFill>
              </a:rPr>
              <a:t>███ ███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Performance Optimization &amp; Metrics                                                                                       </a:t>
            </a:r>
            <a:r>
              <a:rPr lang="en-US" sz="1400" b="1" dirty="0">
                <a:solidFill>
                  <a:srgbClr val="00B050"/>
                </a:solidFill>
              </a:rPr>
              <a:t>███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Testing (Functional + Comparative)                                                                                              </a:t>
            </a:r>
            <a:r>
              <a:rPr lang="en-US" sz="1400" b="1" dirty="0">
                <a:solidFill>
                  <a:srgbClr val="00B050"/>
                </a:solidFill>
              </a:rPr>
              <a:t> ███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400" b="1" dirty="0"/>
              <a:t>Results, Documentation, Final Presentation                                                                                        </a:t>
            </a:r>
            <a:r>
              <a:rPr lang="en-US" sz="1400" b="1" dirty="0">
                <a:solidFill>
                  <a:srgbClr val="00B050"/>
                </a:solidFill>
              </a:rPr>
              <a:t>███</a:t>
            </a:r>
          </a:p>
        </p:txBody>
      </p:sp>
    </p:spTree>
    <p:extLst>
      <p:ext uri="{BB962C8B-B14F-4D97-AF65-F5344CB8AC3E}">
        <p14:creationId xmlns:p14="http://schemas.microsoft.com/office/powerpoint/2010/main" val="33473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45" dirty="0"/>
              <a:t> </a:t>
            </a:r>
            <a:r>
              <a:rPr dirty="0"/>
              <a:t>of CSE,</a:t>
            </a:r>
            <a:r>
              <a:rPr spc="-15" dirty="0"/>
              <a:t> </a:t>
            </a:r>
            <a:r>
              <a:rPr spc="-10" dirty="0"/>
              <a:t>SJCIT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62B46D2-0484-6639-A0A7-4EE851A2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713" y="316814"/>
            <a:ext cx="8640572" cy="861774"/>
          </a:xfrm>
        </p:spPr>
        <p:txBody>
          <a:bodyPr/>
          <a:lstStyle/>
          <a:p>
            <a:pPr algn="l"/>
            <a:r>
              <a:rPr lang="en-IN" dirty="0"/>
              <a:t>        SRS (System Requirements Specification)</a:t>
            </a:r>
            <a:br>
              <a:rPr lang="en-IN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771AA-AF57-0868-5543-32360FD2AF90}"/>
              </a:ext>
            </a:extLst>
          </p:cNvPr>
          <p:cNvSpPr txBox="1"/>
          <p:nvPr/>
        </p:nvSpPr>
        <p:spPr>
          <a:xfrm>
            <a:off x="838200" y="939140"/>
            <a:ext cx="8991600" cy="5602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/>
              <a:t>Functional Requirements:</a:t>
            </a:r>
            <a:endParaRPr lang="en-IN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Upload image and apply enhancement (</a:t>
            </a:r>
            <a:r>
              <a:rPr lang="en-IN" sz="1600" dirty="0" err="1"/>
              <a:t>DEDUNet</a:t>
            </a:r>
            <a:r>
              <a:rPr lang="en-IN" sz="1600" dirty="0"/>
              <a:t> + traditional).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Provide </a:t>
            </a:r>
            <a:r>
              <a:rPr lang="en-IN" sz="1600" dirty="0" err="1"/>
              <a:t>color</a:t>
            </a:r>
            <a:r>
              <a:rPr lang="en-IN" sz="1600" dirty="0"/>
              <a:t> controls (brightness, contrast, saturation, hue, temperature,    shadows/highlights).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Show real-time quality metrics (PSNR, SSIM, enhancement score, processing time).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Collect user ratings via 5-star feedback</a:t>
            </a:r>
            <a:r>
              <a:rPr lang="en-IN" dirty="0"/>
              <a:t>.</a:t>
            </a:r>
          </a:p>
          <a:p>
            <a:pPr algn="just">
              <a:buNone/>
            </a:pPr>
            <a:endParaRPr lang="en-IN" b="1" dirty="0"/>
          </a:p>
          <a:p>
            <a:pPr algn="just">
              <a:buNone/>
            </a:pPr>
            <a:r>
              <a:rPr lang="en-IN" b="1" dirty="0"/>
              <a:t>Non-Functional Requirements:</a:t>
            </a:r>
            <a:endParaRPr lang="en-IN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Performance: &lt;1s processing per image.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Usability: Web-based interface with sliders and previews.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Compatibility: Supports multiple image formats (PNG, JPG, BMP, TIFF).</a:t>
            </a:r>
          </a:p>
          <a:p>
            <a:pPr algn="just">
              <a:buNone/>
            </a:pPr>
            <a:endParaRPr lang="en-IN" b="1" dirty="0"/>
          </a:p>
          <a:p>
            <a:pPr algn="just">
              <a:buNone/>
            </a:pPr>
            <a:r>
              <a:rPr lang="en-IN" b="1" dirty="0"/>
              <a:t>Software Requirements:</a:t>
            </a:r>
            <a:endParaRPr lang="en-IN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/>
              <a:t>Python, </a:t>
            </a:r>
            <a:r>
              <a:rPr lang="en-IN" sz="1600" dirty="0" err="1"/>
              <a:t>PyTorch</a:t>
            </a:r>
            <a:r>
              <a:rPr lang="en-IN" sz="1600" dirty="0"/>
              <a:t>, OpenCV, Flask, NumPy, PIL, </a:t>
            </a:r>
            <a:r>
              <a:rPr lang="en-IN" sz="1600" dirty="0" err="1"/>
              <a:t>skimage</a:t>
            </a:r>
            <a:r>
              <a:rPr lang="en-IN" sz="1600" dirty="0"/>
              <a:t>.</a:t>
            </a:r>
          </a:p>
          <a:p>
            <a:pPr algn="just">
              <a:buNone/>
            </a:pPr>
            <a:endParaRPr lang="en-IN" b="1" dirty="0"/>
          </a:p>
          <a:p>
            <a:pPr algn="just">
              <a:buNone/>
            </a:pPr>
            <a:r>
              <a:rPr lang="en-IN" b="1" dirty="0"/>
              <a:t>Hardware Requirements:</a:t>
            </a:r>
            <a:endParaRPr lang="en-IN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GPU-enabled system for model inference (optional).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Minimum 8GB RAM, 2.5 GHz CPU.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ystem analysis&#10;&#10;AI-generated content may be incorrect.">
            <a:extLst>
              <a:ext uri="{FF2B5EF4-FFF2-40B4-BE49-F238E27FC236}">
                <a16:creationId xmlns:a16="http://schemas.microsoft.com/office/drawing/2014/main" id="{F1EEEBD8-F269-0354-EB7A-1BB204EF7B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57200"/>
            <a:ext cx="10287000" cy="561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971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575183-3CA8-4FEE-89D7-11ACD1B32CE8}"/>
              </a:ext>
            </a:extLst>
          </p:cNvPr>
          <p:cNvSpPr txBox="1"/>
          <p:nvPr/>
        </p:nvSpPr>
        <p:spPr>
          <a:xfrm>
            <a:off x="838200" y="1524000"/>
            <a:ext cx="7848600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/>
              <a:t>DEDUNet</a:t>
            </a:r>
            <a:r>
              <a:rPr lang="en-US" sz="2000" dirty="0"/>
              <a:t> implemented with dense skip connections and attention blocks.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Mask-guided enhancement applied to dark areas only.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Classical processing integrated as user-adjustable modules.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Web app created using Flask/</a:t>
            </a:r>
            <a:r>
              <a:rPr lang="en-US" sz="2000" dirty="0" err="1"/>
              <a:t>Streamlit</a:t>
            </a:r>
            <a:r>
              <a:rPr lang="en-US" sz="2000" dirty="0"/>
              <a:t> showing real-time results.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Metrics computed automatically after enhancement.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AC1D2-9B84-43F3-5306-F24C8D382D3B}"/>
              </a:ext>
            </a:extLst>
          </p:cNvPr>
          <p:cNvSpPr txBox="1"/>
          <p:nvPr/>
        </p:nvSpPr>
        <p:spPr>
          <a:xfrm>
            <a:off x="838200" y="1066800"/>
            <a:ext cx="6094476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08363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519BAE-FA2E-F03D-9050-74A745204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008" y="1397675"/>
            <a:ext cx="10952037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Testing: upload, enhance, download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Testing: runtime on CPU/GPU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Evaluation: PSNR, SSIM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testing: comparison with CLAHE,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Retinex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Zero-DCE,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DEDUNet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Dataset-based Testing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LOL, SID, SICE datasets used for benchmarking.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method achieves PSNR = 23.1 dB and SSIM = 0.87, outperforming other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3BAE36-61A9-DC5D-9820-3EF5C539F111}"/>
              </a:ext>
            </a:extLst>
          </p:cNvPr>
          <p:cNvSpPr txBox="1"/>
          <p:nvPr/>
        </p:nvSpPr>
        <p:spPr>
          <a:xfrm>
            <a:off x="457200" y="914400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4042309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86A54C-F11F-5660-D462-2AC113BFBF97}"/>
              </a:ext>
            </a:extLst>
          </p:cNvPr>
          <p:cNvSpPr txBox="1"/>
          <p:nvPr/>
        </p:nvSpPr>
        <p:spPr>
          <a:xfrm>
            <a:off x="548148" y="926768"/>
            <a:ext cx="7086600" cy="373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Sample low-light image enhanced → brighter, less noisy, improved    details (see below examples).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Quality Metrics Example: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PSNR ↑ from ~18 dB → ~32 </a:t>
            </a:r>
            <a:r>
              <a:rPr lang="en-IN" sz="1600" dirty="0" err="1"/>
              <a:t>dB.</a:t>
            </a:r>
            <a:endParaRPr lang="en-IN" sz="1600" dirty="0"/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SSIM ↑ from ~0.62 → ~0.91.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Enhancement Score ~85%.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Real-time processing under 1s per image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   (on GPU).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User study: Higher satisfaction with 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  advanced </a:t>
            </a:r>
            <a:r>
              <a:rPr lang="en-IN" sz="1600" dirty="0" err="1"/>
              <a:t>color</a:t>
            </a:r>
            <a:r>
              <a:rPr lang="en-IN" sz="1600" dirty="0"/>
              <a:t> grading +   feedback loop.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20BEB-20F7-EC62-7078-FF4681087762}"/>
              </a:ext>
            </a:extLst>
          </p:cNvPr>
          <p:cNvSpPr txBox="1"/>
          <p:nvPr/>
        </p:nvSpPr>
        <p:spPr>
          <a:xfrm>
            <a:off x="533400" y="45720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Results Obtained</a:t>
            </a:r>
          </a:p>
        </p:txBody>
      </p:sp>
      <p:pic>
        <p:nvPicPr>
          <p:cNvPr id="9" name="Picture 8" descr="A screenshot of a screen shot&#10;&#10;AI-generated content may be incorrect.">
            <a:extLst>
              <a:ext uri="{FF2B5EF4-FFF2-40B4-BE49-F238E27FC236}">
                <a16:creationId xmlns:a16="http://schemas.microsoft.com/office/drawing/2014/main" id="{558D87D3-B5DE-7724-F595-F6590C50C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89899" l="2144" r="94874">
                        <a14:foregroundMark x1="2144" y1="9668" x2="17614" y2="40693"/>
                        <a14:foregroundMark x1="17614" y1="40693" x2="28984" y2="34488"/>
                        <a14:foregroundMark x1="28984" y1="34488" x2="25070" y2="41847"/>
                        <a14:foregroundMark x1="25070" y1="41847" x2="24977" y2="41847"/>
                        <a14:foregroundMark x1="60671" y1="40693" x2="60671" y2="40693"/>
                        <a14:foregroundMark x1="83691" y1="23954" x2="83691" y2="23954"/>
                        <a14:foregroundMark x1="86300" y1="29726" x2="86300" y2="29726"/>
                        <a14:foregroundMark x1="86300" y1="29726" x2="68872" y2="28860"/>
                        <a14:foregroundMark x1="68872" y1="28860" x2="59273" y2="22944"/>
                        <a14:foregroundMark x1="59273" y1="22944" x2="78472" y2="19336"/>
                        <a14:foregroundMark x1="78472" y1="19336" x2="79776" y2="21212"/>
                        <a14:foregroundMark x1="51631" y1="10967" x2="53402" y2="48196"/>
                        <a14:foregroundMark x1="53402" y1="48196" x2="77353" y2="44444"/>
                        <a14:foregroundMark x1="77353" y1="44444" x2="85368" y2="44589"/>
                        <a14:foregroundMark x1="85368" y1="44589" x2="97204" y2="47908"/>
                        <a14:foregroundMark x1="97204" y1="47908" x2="97484" y2="12843"/>
                        <a14:foregroundMark x1="97484" y1="12843" x2="83038" y2="10823"/>
                        <a14:foregroundMark x1="83038" y1="10823" x2="80731" y2="7714"/>
                        <a14:foregroundMark x1="66152" y1="9150" x2="64119" y2="10823"/>
                        <a14:foregroundMark x1="64119" y1="10823" x2="50885" y2="10678"/>
                        <a14:foregroundMark x1="50885" y1="10678" x2="51072" y2="10967"/>
                        <a14:foregroundMark x1="94874" y1="46898" x2="94874" y2="46898"/>
                        <a14:foregroundMark x1="21808" y1="26407" x2="21808" y2="26407"/>
                        <a14:foregroundMark x1="5033" y1="12410" x2="32060" y2="8802"/>
                        <a14:foregroundMark x1="32060" y1="8802" x2="43616" y2="9091"/>
                        <a14:foregroundMark x1="43616" y1="9091" x2="46692" y2="24531"/>
                        <a14:foregroundMark x1="46692" y1="24531" x2="44921" y2="37518"/>
                        <a14:foregroundMark x1="44921" y1="37518" x2="23206" y2="32756"/>
                        <a14:foregroundMark x1="23206" y1="32756" x2="7735" y2="18038"/>
                        <a14:foregroundMark x1="80429" y1="10245" x2="80336" y2="10390"/>
                        <a14:foregroundMark x1="80336" y1="10390" x2="80336" y2="10390"/>
                        <a14:foregroundMark x1="80336" y1="10390" x2="80801" y2="12987"/>
                        <a14:foregroundMark x1="80801" y1="12987" x2="75769" y2="5483"/>
                        <a14:foregroundMark x1="75769" y1="5483" x2="79497" y2="15584"/>
                        <a14:foregroundMark x1="79497" y1="15584" x2="81640" y2="16450"/>
                        <a14:backgroundMark x1="23672" y1="5339" x2="29547" y2="6648"/>
                        <a14:backgroundMark x1="29841" y1="6609" x2="18453" y2="3896"/>
                        <a14:backgroundMark x1="28239" y1="1876" x2="16216" y2="722"/>
                        <a14:backgroundMark x1="30755" y1="5195" x2="27213" y2="3752"/>
                        <a14:backgroundMark x1="75205" y1="3440" x2="67102" y2="4185"/>
                        <a14:backgroundMark x1="87512" y1="2309" x2="75493" y2="3414"/>
                        <a14:backgroundMark x1="77729" y1="4618" x2="84809" y2="4906"/>
                        <a14:backgroundMark x1="76261" y1="4558" x2="76888" y2="4584"/>
                        <a14:backgroundMark x1="67102" y1="4185" x2="75505" y2="4527"/>
                        <a14:backgroundMark x1="84809" y1="4906" x2="85834" y2="4762"/>
                        <a14:backgroundMark x1="66076" y1="6061" x2="65238" y2="7937"/>
                        <a14:backgroundMark x1="75789" y1="5554" x2="66636" y2="6494"/>
                        <a14:backgroundMark x1="83504" y1="4762" x2="77991" y2="5328"/>
                        <a14:backgroundMark x1="66636" y1="6494" x2="74492" y2="8204"/>
                        <a14:backgroundMark x1="78871" y1="7711" x2="79590" y2="4473"/>
                        <a14:backgroundMark x1="79404" y1="6349" x2="79963" y2="54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300" y="1279843"/>
            <a:ext cx="7457051" cy="4816157"/>
          </a:xfrm>
          <a:prstGeom prst="rect">
            <a:avLst/>
          </a:prstGeom>
        </p:spPr>
      </p:pic>
      <p:pic>
        <p:nvPicPr>
          <p:cNvPr id="11" name="Picture 10" descr="A collage of a person&#10;&#10;AI-generated content may be incorrect.">
            <a:extLst>
              <a:ext uri="{FF2B5EF4-FFF2-40B4-BE49-F238E27FC236}">
                <a16:creationId xmlns:a16="http://schemas.microsoft.com/office/drawing/2014/main" id="{89EBD9A4-A308-B7A6-D3F0-F1E9D8F16E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525" y="3714960"/>
            <a:ext cx="7086600" cy="290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12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BE5ADE-9083-EB6C-B95E-4044029F109A}"/>
              </a:ext>
            </a:extLst>
          </p:cNvPr>
          <p:cNvSpPr txBox="1"/>
          <p:nvPr/>
        </p:nvSpPr>
        <p:spPr>
          <a:xfrm>
            <a:off x="1066800" y="1143524"/>
            <a:ext cx="7770114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/>
              <a:t>Conclusion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A hybrid low-light image enhancement framework was built that: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Restores illumination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Removes noise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Preserves details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Achieves real-time performance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Outperforms existing classical and deep-learning approaches.</a:t>
            </a:r>
          </a:p>
          <a:p>
            <a:pPr algn="just"/>
            <a:endParaRPr lang="en-IN" dirty="0"/>
          </a:p>
          <a:p>
            <a:pPr algn="just">
              <a:buNone/>
            </a:pPr>
            <a:r>
              <a:rPr lang="en-IN" b="1" dirty="0"/>
              <a:t>Future Enhancements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Optimize model for </a:t>
            </a:r>
            <a:r>
              <a:rPr lang="en-IN" b="1" dirty="0"/>
              <a:t>mobile devices</a:t>
            </a:r>
            <a:r>
              <a:rPr lang="en-IN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Incorporate larger and more diverse datasets.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Add intelligent modules for </a:t>
            </a:r>
            <a:r>
              <a:rPr lang="en-IN" b="1" dirty="0"/>
              <a:t>adaptive brightness control</a:t>
            </a:r>
            <a:r>
              <a:rPr lang="en-IN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Explore </a:t>
            </a:r>
            <a:r>
              <a:rPr lang="en-IN" b="1" dirty="0"/>
              <a:t>diffusion models and transformers</a:t>
            </a:r>
            <a:r>
              <a:rPr lang="en-IN" dirty="0"/>
              <a:t> for even better realism.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Extend system to include super-resolution &amp; segmentation.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9E093-1CAC-EA1D-8A71-986D4D6B9B81}"/>
              </a:ext>
            </a:extLst>
          </p:cNvPr>
          <p:cNvSpPr txBox="1"/>
          <p:nvPr/>
        </p:nvSpPr>
        <p:spPr>
          <a:xfrm>
            <a:off x="685800" y="60960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CONCLUSION &amp; 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2350102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2514600"/>
            <a:ext cx="71977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0" spc="-25" dirty="0">
                <a:solidFill>
                  <a:srgbClr val="375F92"/>
                </a:solidFill>
                <a:latin typeface="Times New Roman"/>
                <a:cs typeface="Times New Roman"/>
              </a:rPr>
              <a:t>THANK</a:t>
            </a:r>
            <a:r>
              <a:rPr sz="9600" b="0" spc="-555" dirty="0">
                <a:solidFill>
                  <a:srgbClr val="375F92"/>
                </a:solidFill>
                <a:latin typeface="Times New Roman"/>
                <a:cs typeface="Times New Roman"/>
              </a:rPr>
              <a:t> </a:t>
            </a:r>
            <a:r>
              <a:rPr sz="9600" b="0" spc="-25" dirty="0">
                <a:solidFill>
                  <a:srgbClr val="375F92"/>
                </a:solidFill>
                <a:latin typeface="Times New Roman"/>
                <a:cs typeface="Times New Roman"/>
              </a:rPr>
              <a:t>YOU</a:t>
            </a:r>
            <a:endParaRPr sz="9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Dept.</a:t>
            </a:r>
            <a:r>
              <a:rPr spc="-45" dirty="0"/>
              <a:t> </a:t>
            </a:r>
            <a:r>
              <a:rPr dirty="0"/>
              <a:t>of CSE,</a:t>
            </a:r>
            <a:r>
              <a:rPr spc="-15" dirty="0"/>
              <a:t> </a:t>
            </a:r>
            <a:r>
              <a:rPr spc="-10" dirty="0"/>
              <a:t>SJCIT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</TotalTime>
  <Words>1389</Words>
  <Application>Microsoft Office PowerPoint</Application>
  <PresentationFormat>Widescreen</PresentationFormat>
  <Paragraphs>206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Office Theme</vt:lpstr>
      <vt:lpstr>  “Low-Light Image Enhancement and Denoising Using Deep Learning Techniques”</vt:lpstr>
      <vt:lpstr>CONTENTS</vt:lpstr>
      <vt:lpstr>ABSTRACT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SRS (System Requirements Specification)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Project work On “FROM THE RISE OF AI TO FUTURE SHOCK- STATE OF THE ART”</dc:title>
  <dc:creator>Khushi Divya</dc:creator>
  <cp:lastModifiedBy>Ajaganna Pasargi</cp:lastModifiedBy>
  <cp:revision>22</cp:revision>
  <dcterms:created xsi:type="dcterms:W3CDTF">2025-05-03T06:11:47Z</dcterms:created>
  <dcterms:modified xsi:type="dcterms:W3CDTF">2025-12-10T04:03:44Z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2025-05-03T00:00:00Z</vt:filetime>
  </property>
  <property fmtid="{D5CDD505-2E9C-101B-9397-08002B2CF9AE}" pid="5" name="Producer">
    <vt:lpwstr>Microsoft® PowerPoint® 2021</vt:lpwstr>
  </property>
</Properties>
</file>