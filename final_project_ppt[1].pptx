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7.jpg" ContentType="image/jpeg"/>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77" r:id="rId4"/>
    <p:sldId id="258" r:id="rId5"/>
    <p:sldId id="259" r:id="rId6"/>
    <p:sldId id="271" r:id="rId7"/>
    <p:sldId id="272" r:id="rId8"/>
    <p:sldId id="263" r:id="rId9"/>
    <p:sldId id="264" r:id="rId10"/>
    <p:sldId id="275" r:id="rId11"/>
    <p:sldId id="278" r:id="rId12"/>
    <p:sldId id="273" r:id="rId13"/>
    <p:sldId id="267" r:id="rId1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69DE27-F902-4059-8743-5EB3D8155E81}" v="34" dt="2025-09-11T17:46:15.55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341" autoAdjust="0"/>
    <p:restoredTop sz="94660"/>
  </p:normalViewPr>
  <p:slideViewPr>
    <p:cSldViewPr>
      <p:cViewPr varScale="1">
        <p:scale>
          <a:sx n="74" d="100"/>
          <a:sy n="74" d="100"/>
        </p:scale>
        <p:origin x="96" y="15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ash jogamol" userId="06e964eaabfa4f83" providerId="LiveId" clId="{1F00368D-7C3F-485C-88D5-134CD7DC2ABC}"/>
    <pc:docChg chg="undo custSel delSld modSld sldOrd">
      <pc:chgData name="Akash jogamol" userId="06e964eaabfa4f83" providerId="LiveId" clId="{1F00368D-7C3F-485C-88D5-134CD7DC2ABC}" dt="2025-09-11T17:48:56.498" v="277"/>
      <pc:docMkLst>
        <pc:docMk/>
      </pc:docMkLst>
      <pc:sldChg chg="modSp mod">
        <pc:chgData name="Akash jogamol" userId="06e964eaabfa4f83" providerId="LiveId" clId="{1F00368D-7C3F-485C-88D5-134CD7DC2ABC}" dt="2025-09-11T17:10:08.066" v="200" actId="20577"/>
        <pc:sldMkLst>
          <pc:docMk/>
          <pc:sldMk cId="0" sldId="256"/>
        </pc:sldMkLst>
        <pc:spChg chg="mod">
          <ac:chgData name="Akash jogamol" userId="06e964eaabfa4f83" providerId="LiveId" clId="{1F00368D-7C3F-485C-88D5-134CD7DC2ABC}" dt="2025-09-11T17:10:08.066" v="200" actId="20577"/>
          <ac:spMkLst>
            <pc:docMk/>
            <pc:sldMk cId="0" sldId="256"/>
            <ac:spMk id="2" creationId="{00000000-0000-0000-0000-000000000000}"/>
          </ac:spMkLst>
        </pc:spChg>
      </pc:sldChg>
      <pc:sldChg chg="del">
        <pc:chgData name="Akash jogamol" userId="06e964eaabfa4f83" providerId="LiveId" clId="{1F00368D-7C3F-485C-88D5-134CD7DC2ABC}" dt="2025-09-10T08:49:35.320" v="68" actId="47"/>
        <pc:sldMkLst>
          <pc:docMk/>
          <pc:sldMk cId="0" sldId="261"/>
        </pc:sldMkLst>
      </pc:sldChg>
      <pc:sldChg chg="modSp mod">
        <pc:chgData name="Akash jogamol" userId="06e964eaabfa4f83" providerId="LiveId" clId="{1F00368D-7C3F-485C-88D5-134CD7DC2ABC}" dt="2025-09-11T17:28:10.459" v="253" actId="403"/>
        <pc:sldMkLst>
          <pc:docMk/>
          <pc:sldMk cId="0" sldId="263"/>
        </pc:sldMkLst>
        <pc:spChg chg="mod">
          <ac:chgData name="Akash jogamol" userId="06e964eaabfa4f83" providerId="LiveId" clId="{1F00368D-7C3F-485C-88D5-134CD7DC2ABC}" dt="2025-09-11T17:28:10.459" v="253" actId="403"/>
          <ac:spMkLst>
            <pc:docMk/>
            <pc:sldMk cId="0" sldId="263"/>
            <ac:spMk id="9" creationId="{06D771AA-AF57-0868-5543-32360FD2AF90}"/>
          </ac:spMkLst>
        </pc:spChg>
      </pc:sldChg>
      <pc:sldChg chg="addSp delSp modSp mod">
        <pc:chgData name="Akash jogamol" userId="06e964eaabfa4f83" providerId="LiveId" clId="{1F00368D-7C3F-485C-88D5-134CD7DC2ABC}" dt="2025-09-11T17:48:29.589" v="275" actId="113"/>
        <pc:sldMkLst>
          <pc:docMk/>
          <pc:sldMk cId="0" sldId="264"/>
        </pc:sldMkLst>
        <pc:spChg chg="mod">
          <ac:chgData name="Akash jogamol" userId="06e964eaabfa4f83" providerId="LiveId" clId="{1F00368D-7C3F-485C-88D5-134CD7DC2ABC}" dt="2025-09-10T08:42:52.855" v="65" actId="1076"/>
          <ac:spMkLst>
            <pc:docMk/>
            <pc:sldMk cId="0" sldId="264"/>
            <ac:spMk id="2" creationId="{00000000-0000-0000-0000-000000000000}"/>
          </ac:spMkLst>
        </pc:spChg>
        <pc:spChg chg="add mod">
          <ac:chgData name="Akash jogamol" userId="06e964eaabfa4f83" providerId="LiveId" clId="{1F00368D-7C3F-485C-88D5-134CD7DC2ABC}" dt="2025-09-10T13:01:07.672" v="134" actId="403"/>
          <ac:spMkLst>
            <pc:docMk/>
            <pc:sldMk cId="0" sldId="264"/>
            <ac:spMk id="6" creationId="{B1F38E4D-9569-CAC5-36BC-478A3E81DD1E}"/>
          </ac:spMkLst>
        </pc:spChg>
        <pc:spChg chg="add mod">
          <ac:chgData name="Akash jogamol" userId="06e964eaabfa4f83" providerId="LiveId" clId="{1F00368D-7C3F-485C-88D5-134CD7DC2ABC}" dt="2025-09-10T13:01:14.465" v="136" actId="403"/>
          <ac:spMkLst>
            <pc:docMk/>
            <pc:sldMk cId="0" sldId="264"/>
            <ac:spMk id="7" creationId="{9C52D496-F230-B4B8-FB56-CF1AB993F3D8}"/>
          </ac:spMkLst>
        </pc:spChg>
        <pc:spChg chg="add mod">
          <ac:chgData name="Akash jogamol" userId="06e964eaabfa4f83" providerId="LiveId" clId="{1F00368D-7C3F-485C-88D5-134CD7DC2ABC}" dt="2025-09-10T13:01:32.614" v="138" actId="403"/>
          <ac:spMkLst>
            <pc:docMk/>
            <pc:sldMk cId="0" sldId="264"/>
            <ac:spMk id="8" creationId="{FD977E0D-481B-E5AA-87F0-B051989115DD}"/>
          </ac:spMkLst>
        </pc:spChg>
        <pc:spChg chg="add mod">
          <ac:chgData name="Akash jogamol" userId="06e964eaabfa4f83" providerId="LiveId" clId="{1F00368D-7C3F-485C-88D5-134CD7DC2ABC}" dt="2025-09-10T13:00:59.441" v="132" actId="404"/>
          <ac:spMkLst>
            <pc:docMk/>
            <pc:sldMk cId="0" sldId="264"/>
            <ac:spMk id="9" creationId="{A405B307-3DB4-4D8D-38EE-2874D3200C69}"/>
          </ac:spMkLst>
        </pc:spChg>
        <pc:spChg chg="add">
          <ac:chgData name="Akash jogamol" userId="06e964eaabfa4f83" providerId="LiveId" clId="{1F00368D-7C3F-485C-88D5-134CD7DC2ABC}" dt="2025-09-11T17:44:11.013" v="255"/>
          <ac:spMkLst>
            <pc:docMk/>
            <pc:sldMk cId="0" sldId="264"/>
            <ac:spMk id="10" creationId="{917540E7-4FE4-0DDB-65B9-72BCA4CA5F42}"/>
          </ac:spMkLst>
        </pc:spChg>
        <pc:spChg chg="mod">
          <ac:chgData name="Akash jogamol" userId="06e964eaabfa4f83" providerId="LiveId" clId="{1F00368D-7C3F-485C-88D5-134CD7DC2ABC}" dt="2025-09-11T17:48:29.589" v="275" actId="113"/>
          <ac:spMkLst>
            <pc:docMk/>
            <pc:sldMk cId="0" sldId="264"/>
            <ac:spMk id="11" creationId="{058D5D2C-3F8C-4116-3AA2-1417D2279BB9}"/>
          </ac:spMkLst>
        </pc:spChg>
        <pc:picChg chg="add del mod">
          <ac:chgData name="Akash jogamol" userId="06e964eaabfa4f83" providerId="LiveId" clId="{1F00368D-7C3F-485C-88D5-134CD7DC2ABC}" dt="2025-09-11T17:44:08.901" v="254" actId="478"/>
          <ac:picMkLst>
            <pc:docMk/>
            <pc:sldMk cId="0" sldId="264"/>
            <ac:picMk id="3" creationId="{2BB71A41-9E3E-AB5F-24C3-71184194410E}"/>
          </ac:picMkLst>
        </pc:picChg>
        <pc:picChg chg="add mod">
          <ac:chgData name="Akash jogamol" userId="06e964eaabfa4f83" providerId="LiveId" clId="{1F00368D-7C3F-485C-88D5-134CD7DC2ABC}" dt="2025-09-11T17:46:50.223" v="272" actId="14100"/>
          <ac:picMkLst>
            <pc:docMk/>
            <pc:sldMk cId="0" sldId="264"/>
            <ac:picMk id="13" creationId="{B96E22D8-74AD-9A5E-63DA-92E2D964F9F1}"/>
          </ac:picMkLst>
        </pc:picChg>
        <pc:picChg chg="add mod">
          <ac:chgData name="Akash jogamol" userId="06e964eaabfa4f83" providerId="LiveId" clId="{1F00368D-7C3F-485C-88D5-134CD7DC2ABC}" dt="2025-09-11T17:46:37.791" v="271" actId="14100"/>
          <ac:picMkLst>
            <pc:docMk/>
            <pc:sldMk cId="0" sldId="264"/>
            <ac:picMk id="15" creationId="{FF08A2DC-E7BC-0F2D-D2A8-19A8C1189342}"/>
          </ac:picMkLst>
        </pc:picChg>
      </pc:sldChg>
      <pc:sldChg chg="modSp del mod ord">
        <pc:chgData name="Akash jogamol" userId="06e964eaabfa4f83" providerId="LiveId" clId="{1F00368D-7C3F-485C-88D5-134CD7DC2ABC}" dt="2025-09-10T08:55:36.033" v="88" actId="47"/>
        <pc:sldMkLst>
          <pc:docMk/>
          <pc:sldMk cId="0" sldId="265"/>
        </pc:sldMkLst>
        <pc:spChg chg="mod">
          <ac:chgData name="Akash jogamol" userId="06e964eaabfa4f83" providerId="LiveId" clId="{1F00368D-7C3F-485C-88D5-134CD7DC2ABC}" dt="2025-09-10T08:39:11.267" v="51" actId="14100"/>
          <ac:spMkLst>
            <pc:docMk/>
            <pc:sldMk cId="0" sldId="265"/>
            <ac:spMk id="3" creationId="{00000000-0000-0000-0000-000000000000}"/>
          </ac:spMkLst>
        </pc:spChg>
      </pc:sldChg>
      <pc:sldChg chg="del">
        <pc:chgData name="Akash jogamol" userId="06e964eaabfa4f83" providerId="LiveId" clId="{1F00368D-7C3F-485C-88D5-134CD7DC2ABC}" dt="2025-09-10T08:28:21.317" v="18" actId="47"/>
        <pc:sldMkLst>
          <pc:docMk/>
          <pc:sldMk cId="0" sldId="266"/>
        </pc:sldMkLst>
      </pc:sldChg>
      <pc:sldChg chg="modSp mod">
        <pc:chgData name="Akash jogamol" userId="06e964eaabfa4f83" providerId="LiveId" clId="{1F00368D-7C3F-485C-88D5-134CD7DC2ABC}" dt="2025-09-10T08:44:07.655" v="67" actId="1076"/>
        <pc:sldMkLst>
          <pc:docMk/>
          <pc:sldMk cId="0" sldId="267"/>
        </pc:sldMkLst>
        <pc:spChg chg="mod">
          <ac:chgData name="Akash jogamol" userId="06e964eaabfa4f83" providerId="LiveId" clId="{1F00368D-7C3F-485C-88D5-134CD7DC2ABC}" dt="2025-09-10T08:44:07.655" v="67" actId="1076"/>
          <ac:spMkLst>
            <pc:docMk/>
            <pc:sldMk cId="0" sldId="267"/>
            <ac:spMk id="2" creationId="{00000000-0000-0000-0000-000000000000}"/>
          </ac:spMkLst>
        </pc:spChg>
      </pc:sldChg>
      <pc:sldChg chg="ord">
        <pc:chgData name="Akash jogamol" userId="06e964eaabfa4f83" providerId="LiveId" clId="{1F00368D-7C3F-485C-88D5-134CD7DC2ABC}" dt="2025-09-10T08:51:31.992" v="74"/>
        <pc:sldMkLst>
          <pc:docMk/>
          <pc:sldMk cId="1191146237" sldId="271"/>
        </pc:sldMkLst>
      </pc:sldChg>
      <pc:sldChg chg="ord">
        <pc:chgData name="Akash jogamol" userId="06e964eaabfa4f83" providerId="LiveId" clId="{1F00368D-7C3F-485C-88D5-134CD7DC2ABC}" dt="2025-09-10T08:51:47.071" v="78"/>
        <pc:sldMkLst>
          <pc:docMk/>
          <pc:sldMk cId="2545613623" sldId="272"/>
        </pc:sldMkLst>
      </pc:sldChg>
      <pc:sldChg chg="addSp delSp modSp mod">
        <pc:chgData name="Akash jogamol" userId="06e964eaabfa4f83" providerId="LiveId" clId="{1F00368D-7C3F-485C-88D5-134CD7DC2ABC}" dt="2025-09-10T08:37:17.032" v="50" actId="1076"/>
        <pc:sldMkLst>
          <pc:docMk/>
          <pc:sldMk cId="33473383" sldId="273"/>
        </pc:sldMkLst>
        <pc:spChg chg="mod">
          <ac:chgData name="Akash jogamol" userId="06e964eaabfa4f83" providerId="LiveId" clId="{1F00368D-7C3F-485C-88D5-134CD7DC2ABC}" dt="2025-09-10T08:25:21.146" v="6" actId="20577"/>
          <ac:spMkLst>
            <pc:docMk/>
            <pc:sldMk cId="33473383" sldId="273"/>
            <ac:spMk id="2" creationId="{00000000-0000-0000-0000-000000000000}"/>
          </ac:spMkLst>
        </pc:spChg>
        <pc:spChg chg="add del mod">
          <ac:chgData name="Akash jogamol" userId="06e964eaabfa4f83" providerId="LiveId" clId="{1F00368D-7C3F-485C-88D5-134CD7DC2ABC}" dt="2025-09-10T08:27:55.939" v="17"/>
          <ac:spMkLst>
            <pc:docMk/>
            <pc:sldMk cId="33473383" sldId="273"/>
            <ac:spMk id="6" creationId="{2B6F06CA-42DF-1995-8AC3-93064EB20DD2}"/>
          </ac:spMkLst>
        </pc:spChg>
        <pc:spChg chg="add mod">
          <ac:chgData name="Akash jogamol" userId="06e964eaabfa4f83" providerId="LiveId" clId="{1F00368D-7C3F-485C-88D5-134CD7DC2ABC}" dt="2025-09-10T08:37:17.032" v="50" actId="1076"/>
          <ac:spMkLst>
            <pc:docMk/>
            <pc:sldMk cId="33473383" sldId="273"/>
            <ac:spMk id="8" creationId="{28494E01-B3F2-1B2B-B57A-9D892D926A93}"/>
          </ac:spMkLst>
        </pc:spChg>
        <pc:picChg chg="del">
          <ac:chgData name="Akash jogamol" userId="06e964eaabfa4f83" providerId="LiveId" clId="{1F00368D-7C3F-485C-88D5-134CD7DC2ABC}" dt="2025-09-10T08:25:06.289" v="0" actId="478"/>
          <ac:picMkLst>
            <pc:docMk/>
            <pc:sldMk cId="33473383" sldId="273"/>
            <ac:picMk id="5" creationId="{00000000-0000-0000-0000-000000000000}"/>
          </ac:picMkLst>
        </pc:picChg>
      </pc:sldChg>
      <pc:sldChg chg="addSp delSp modSp del mod ord">
        <pc:chgData name="Akash jogamol" userId="06e964eaabfa4f83" providerId="LiveId" clId="{1F00368D-7C3F-485C-88D5-134CD7DC2ABC}" dt="2025-09-10T08:55:33.653" v="87" actId="47"/>
        <pc:sldMkLst>
          <pc:docMk/>
          <pc:sldMk cId="3929561668" sldId="274"/>
        </pc:sldMkLst>
        <pc:spChg chg="mod">
          <ac:chgData name="Akash jogamol" userId="06e964eaabfa4f83" providerId="LiveId" clId="{1F00368D-7C3F-485C-88D5-134CD7DC2ABC}" dt="2025-09-10T08:40:20.592" v="60" actId="1076"/>
          <ac:spMkLst>
            <pc:docMk/>
            <pc:sldMk cId="3929561668" sldId="274"/>
            <ac:spMk id="2" creationId="{00000000-0000-0000-0000-000000000000}"/>
          </ac:spMkLst>
        </pc:spChg>
        <pc:graphicFrameChg chg="add del modGraphic">
          <ac:chgData name="Akash jogamol" userId="06e964eaabfa4f83" providerId="LiveId" clId="{1F00368D-7C3F-485C-88D5-134CD7DC2ABC}" dt="2025-09-10T08:51:05.160" v="70" actId="27309"/>
          <ac:graphicFrameMkLst>
            <pc:docMk/>
            <pc:sldMk cId="3929561668" sldId="274"/>
            <ac:graphicFrameMk id="5" creationId="{A417B823-0936-E5E2-AC3D-D1920DDEBBE3}"/>
          </ac:graphicFrameMkLst>
        </pc:graphicFrameChg>
      </pc:sldChg>
      <pc:sldChg chg="modSp mod ord">
        <pc:chgData name="Akash jogamol" userId="06e964eaabfa4f83" providerId="LiveId" clId="{1F00368D-7C3F-485C-88D5-134CD7DC2ABC}" dt="2025-09-11T17:48:56.498" v="277"/>
        <pc:sldMkLst>
          <pc:docMk/>
          <pc:sldMk cId="2154456969" sldId="275"/>
        </pc:sldMkLst>
        <pc:spChg chg="mod">
          <ac:chgData name="Akash jogamol" userId="06e964eaabfa4f83" providerId="LiveId" clId="{1F00368D-7C3F-485C-88D5-134CD7DC2ABC}" dt="2025-09-10T12:57:37.407" v="100" actId="20577"/>
          <ac:spMkLst>
            <pc:docMk/>
            <pc:sldMk cId="2154456969" sldId="275"/>
            <ac:spMk id="3" creationId="{00000000-0000-0000-0000-000000000000}"/>
          </ac:spMkLst>
        </pc:spChg>
      </pc:sldChg>
      <pc:sldChg chg="del">
        <pc:chgData name="Akash jogamol" userId="06e964eaabfa4f83" providerId="LiveId" clId="{1F00368D-7C3F-485C-88D5-134CD7DC2ABC}" dt="2025-09-10T08:28:28.364" v="19" actId="47"/>
        <pc:sldMkLst>
          <pc:docMk/>
          <pc:sldMk cId="670059153" sldId="276"/>
        </pc:sldMkLst>
      </pc:sldChg>
      <pc:sldChg chg="addSp delSp modSp mod modAnim">
        <pc:chgData name="Akash jogamol" userId="06e964eaabfa4f83" providerId="LiveId" clId="{1F00368D-7C3F-485C-88D5-134CD7DC2ABC}" dt="2025-09-11T17:16:59.299" v="245" actId="1076"/>
        <pc:sldMkLst>
          <pc:docMk/>
          <pc:sldMk cId="2892163741" sldId="277"/>
        </pc:sldMkLst>
        <pc:spChg chg="del mod">
          <ac:chgData name="Akash jogamol" userId="06e964eaabfa4f83" providerId="LiveId" clId="{1F00368D-7C3F-485C-88D5-134CD7DC2ABC}" dt="2025-09-10T12:55:18.298" v="90" actId="478"/>
          <ac:spMkLst>
            <pc:docMk/>
            <pc:sldMk cId="2892163741" sldId="277"/>
            <ac:spMk id="3" creationId="{DB118330-61FF-9874-B533-EA54ACE420CA}"/>
          </ac:spMkLst>
        </pc:spChg>
        <pc:spChg chg="add mod">
          <ac:chgData name="Akash jogamol" userId="06e964eaabfa4f83" providerId="LiveId" clId="{1F00368D-7C3F-485C-88D5-134CD7DC2ABC}" dt="2025-09-10T12:55:11.435" v="89"/>
          <ac:spMkLst>
            <pc:docMk/>
            <pc:sldMk cId="2892163741" sldId="277"/>
            <ac:spMk id="4" creationId="{D920412C-788D-48DA-D12D-FA9F93E7F03B}"/>
          </ac:spMkLst>
        </pc:spChg>
        <pc:spChg chg="add mod">
          <ac:chgData name="Akash jogamol" userId="06e964eaabfa4f83" providerId="LiveId" clId="{1F00368D-7C3F-485C-88D5-134CD7DC2ABC}" dt="2025-09-10T12:55:11.435" v="89"/>
          <ac:spMkLst>
            <pc:docMk/>
            <pc:sldMk cId="2892163741" sldId="277"/>
            <ac:spMk id="5" creationId="{580940AE-BDFE-D182-7671-E7D4B204B82D}"/>
          </ac:spMkLst>
        </pc:spChg>
        <pc:spChg chg="add mod">
          <ac:chgData name="Akash jogamol" userId="06e964eaabfa4f83" providerId="LiveId" clId="{1F00368D-7C3F-485C-88D5-134CD7DC2ABC}" dt="2025-09-11T17:16:59.299" v="245" actId="1076"/>
          <ac:spMkLst>
            <pc:docMk/>
            <pc:sldMk cId="2892163741" sldId="277"/>
            <ac:spMk id="8" creationId="{375409F1-AD9D-1C68-0B6B-CB03E58EC60B}"/>
          </ac:spMkLst>
        </pc:spChg>
        <pc:spChg chg="add mod">
          <ac:chgData name="Akash jogamol" userId="06e964eaabfa4f83" providerId="LiveId" clId="{1F00368D-7C3F-485C-88D5-134CD7DC2ABC}" dt="2025-09-11T17:12:01.647" v="234" actId="1076"/>
          <ac:spMkLst>
            <pc:docMk/>
            <pc:sldMk cId="2892163741" sldId="277"/>
            <ac:spMk id="9" creationId="{3C707B0E-45A8-D1BD-FEFD-4D7D88486154}"/>
          </ac:spMkLst>
        </pc:spChg>
        <pc:spChg chg="add mod">
          <ac:chgData name="Akash jogamol" userId="06e964eaabfa4f83" providerId="LiveId" clId="{1F00368D-7C3F-485C-88D5-134CD7DC2ABC}" dt="2025-09-11T17:16:20.746" v="242" actId="1076"/>
          <ac:spMkLst>
            <pc:docMk/>
            <pc:sldMk cId="2892163741" sldId="277"/>
            <ac:spMk id="11" creationId="{12E64337-0B8D-B805-531F-EFE08DDF0C19}"/>
          </ac:spMkLst>
        </pc:spChg>
        <pc:picChg chg="add mod">
          <ac:chgData name="Akash jogamol" userId="06e964eaabfa4f83" providerId="LiveId" clId="{1F00368D-7C3F-485C-88D5-134CD7DC2ABC}" dt="2025-09-10T12:55:11.435" v="89"/>
          <ac:picMkLst>
            <pc:docMk/>
            <pc:sldMk cId="2892163741" sldId="277"/>
            <ac:picMk id="2" creationId="{287DE774-FCB2-67E3-CE44-08A78A01EFC8}"/>
          </ac:picMkLst>
        </pc:picChg>
        <pc:picChg chg="add mod">
          <ac:chgData name="Akash jogamol" userId="06e964eaabfa4f83" providerId="LiveId" clId="{1F00368D-7C3F-485C-88D5-134CD7DC2ABC}" dt="2025-09-10T12:55:11.435" v="89"/>
          <ac:picMkLst>
            <pc:docMk/>
            <pc:sldMk cId="2892163741" sldId="277"/>
            <ac:picMk id="6" creationId="{2D4FA63D-ABCE-4F38-F3B8-2F28F6B53B01}"/>
          </ac:picMkLst>
        </pc:picChg>
        <pc:picChg chg="add del mod">
          <ac:chgData name="Akash jogamol" userId="06e964eaabfa4f83" providerId="LiveId" clId="{1F00368D-7C3F-485C-88D5-134CD7DC2ABC}" dt="2025-09-11T17:10:48.750" v="201" actId="478"/>
          <ac:picMkLst>
            <pc:docMk/>
            <pc:sldMk cId="2892163741" sldId="277"/>
            <ac:picMk id="7" creationId="{0D031BA3-A700-5D92-34D2-35434CD590B9}"/>
          </ac:picMkLst>
        </pc:picChg>
        <pc:picChg chg="add del mod">
          <ac:chgData name="Akash jogamol" userId="06e964eaabfa4f83" providerId="LiveId" clId="{1F00368D-7C3F-485C-88D5-134CD7DC2ABC}" dt="2025-09-10T13:02:21.389" v="139" actId="478"/>
          <ac:picMkLst>
            <pc:docMk/>
            <pc:sldMk cId="2892163741" sldId="277"/>
            <ac:picMk id="10" creationId="{661E7B5F-48F0-DFDE-6071-E0537F6C40B8}"/>
          </ac:picMkLst>
        </pc:picChg>
      </pc:sldChg>
      <pc:sldChg chg="ord">
        <pc:chgData name="Akash jogamol" userId="06e964eaabfa4f83" providerId="LiveId" clId="{1F00368D-7C3F-485C-88D5-134CD7DC2ABC}" dt="2025-09-10T08:55:21.196" v="86"/>
        <pc:sldMkLst>
          <pc:docMk/>
          <pc:sldMk cId="1609412889" sldId="27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8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Dept.</a:t>
            </a:r>
            <a:r>
              <a:rPr spc="-45" dirty="0"/>
              <a:t> </a:t>
            </a:r>
            <a:r>
              <a:rPr dirty="0"/>
              <a:t>of CSE,</a:t>
            </a:r>
            <a:r>
              <a:rPr spc="-15" dirty="0"/>
              <a:t> </a:t>
            </a:r>
            <a:r>
              <a:rPr spc="-10" dirty="0"/>
              <a:t>SJCIT</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9/11/2025</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37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Dept.</a:t>
            </a:r>
            <a:r>
              <a:rPr spc="-45" dirty="0"/>
              <a:t> </a:t>
            </a:r>
            <a:r>
              <a:rPr dirty="0"/>
              <a:t>of CSE,</a:t>
            </a:r>
            <a:r>
              <a:rPr spc="-15" dirty="0"/>
              <a:t> </a:t>
            </a:r>
            <a:r>
              <a:rPr spc="-10" dirty="0"/>
              <a:t>SJCIT</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9/11/2025</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37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Dept.</a:t>
            </a:r>
            <a:r>
              <a:rPr spc="-45" dirty="0"/>
              <a:t> </a:t>
            </a:r>
            <a:r>
              <a:rPr dirty="0"/>
              <a:t>of CSE,</a:t>
            </a:r>
            <a:r>
              <a:rPr spc="-15" dirty="0"/>
              <a:t> </a:t>
            </a:r>
            <a:r>
              <a:rPr spc="-10" dirty="0"/>
              <a:t>SJCIT</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9/11/2025</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37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0747375" y="0"/>
            <a:ext cx="1444625" cy="1123950"/>
          </a:xfrm>
          <a:prstGeom prst="rect">
            <a:avLst/>
          </a:prstGeom>
        </p:spPr>
      </p:pic>
      <p:pic>
        <p:nvPicPr>
          <p:cNvPr id="17" name="bg object 17"/>
          <p:cNvPicPr/>
          <p:nvPr/>
        </p:nvPicPr>
        <p:blipFill>
          <a:blip r:embed="rId3" cstate="print"/>
          <a:stretch>
            <a:fillRect/>
          </a:stretch>
        </p:blipFill>
        <p:spPr>
          <a:xfrm>
            <a:off x="2518647" y="2911943"/>
            <a:ext cx="7191472" cy="913874"/>
          </a:xfrm>
          <a:prstGeom prst="rect">
            <a:avLst/>
          </a:prstGeom>
        </p:spPr>
      </p:pic>
      <p:sp>
        <p:nvSpPr>
          <p:cNvPr id="2" name="Holder 2"/>
          <p:cNvSpPr>
            <a:spLocks noGrp="1"/>
          </p:cNvSpPr>
          <p:nvPr>
            <p:ph type="title"/>
          </p:nvPr>
        </p:nvSpPr>
        <p:spPr/>
        <p:txBody>
          <a:bodyPr lIns="0" tIns="0" rIns="0" bIns="0"/>
          <a:lstStyle>
            <a:lvl1pPr>
              <a:defRPr sz="28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Dept.</a:t>
            </a:r>
            <a:r>
              <a:rPr spc="-45" dirty="0"/>
              <a:t> </a:t>
            </a:r>
            <a:r>
              <a:rPr dirty="0"/>
              <a:t>of CSE,</a:t>
            </a:r>
            <a:r>
              <a:rPr spc="-15" dirty="0"/>
              <a:t> </a:t>
            </a:r>
            <a:r>
              <a:rPr spc="-10" dirty="0"/>
              <a:t>SJCIT</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9/11/2025</a:t>
            </a:fld>
            <a:endParaRPr lang="en-US"/>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37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Dept.</a:t>
            </a:r>
            <a:r>
              <a:rPr spc="-45" dirty="0"/>
              <a:t> </a:t>
            </a:r>
            <a:r>
              <a:rPr dirty="0"/>
              <a:t>of CSE,</a:t>
            </a:r>
            <a:r>
              <a:rPr spc="-15" dirty="0"/>
              <a:t> </a:t>
            </a:r>
            <a:r>
              <a:rPr spc="-10" dirty="0"/>
              <a:t>SJCIT</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9/11/2025</a:t>
            </a:fld>
            <a:endParaRPr lang="en-US"/>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37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0747375" y="0"/>
            <a:ext cx="1444625" cy="1123950"/>
          </a:xfrm>
          <a:prstGeom prst="rect">
            <a:avLst/>
          </a:prstGeom>
        </p:spPr>
      </p:pic>
      <p:sp>
        <p:nvSpPr>
          <p:cNvPr id="2" name="Holder 2"/>
          <p:cNvSpPr>
            <a:spLocks noGrp="1"/>
          </p:cNvSpPr>
          <p:nvPr>
            <p:ph type="title"/>
          </p:nvPr>
        </p:nvSpPr>
        <p:spPr>
          <a:xfrm>
            <a:off x="1775713" y="316814"/>
            <a:ext cx="8640572" cy="846886"/>
          </a:xfrm>
          <a:prstGeom prst="rect">
            <a:avLst/>
          </a:prstGeom>
        </p:spPr>
        <p:txBody>
          <a:bodyPr wrap="square" lIns="0" tIns="0" rIns="0" bIns="0">
            <a:spAutoFit/>
          </a:bodyPr>
          <a:lstStyle>
            <a:lvl1pPr>
              <a:defRPr sz="28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1239113" y="1395073"/>
            <a:ext cx="9713595" cy="3695700"/>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5512053" y="6464680"/>
            <a:ext cx="1169670" cy="178434"/>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r>
              <a:rPr dirty="0"/>
              <a:t>Dept.</a:t>
            </a:r>
            <a:r>
              <a:rPr spc="-45" dirty="0"/>
              <a:t> </a:t>
            </a:r>
            <a:r>
              <a:rPr dirty="0"/>
              <a:t>of CSE,</a:t>
            </a:r>
            <a:r>
              <a:rPr spc="-15" dirty="0"/>
              <a:t> </a:t>
            </a:r>
            <a:r>
              <a:rPr spc="-10" dirty="0"/>
              <a:t>SJCIT</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9/11/2025</a:t>
            </a:fld>
            <a:endParaRPr lang="en-US"/>
          </a:p>
        </p:txBody>
      </p:sp>
      <p:sp>
        <p:nvSpPr>
          <p:cNvPr id="6" name="Holder 6"/>
          <p:cNvSpPr>
            <a:spLocks noGrp="1"/>
          </p:cNvSpPr>
          <p:nvPr>
            <p:ph type="sldNum" sz="quarter" idx="7"/>
          </p:nvPr>
        </p:nvSpPr>
        <p:spPr>
          <a:xfrm>
            <a:off x="11323066" y="6447704"/>
            <a:ext cx="219709" cy="195579"/>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37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47800" y="1300443"/>
            <a:ext cx="9743440" cy="1530675"/>
          </a:xfrm>
          <a:prstGeom prst="rect">
            <a:avLst/>
          </a:prstGeom>
        </p:spPr>
        <p:txBody>
          <a:bodyPr vert="horz" wrap="square" lIns="0" tIns="12700" rIns="0" bIns="0" rtlCol="0">
            <a:spAutoFit/>
          </a:bodyPr>
          <a:lstStyle/>
          <a:p>
            <a:pPr marL="3815079" marR="3806190" algn="ctr">
              <a:lnSpc>
                <a:spcPct val="120000"/>
              </a:lnSpc>
              <a:spcBef>
                <a:spcPts val="100"/>
              </a:spcBef>
            </a:pPr>
            <a:r>
              <a:rPr lang="en-IN" sz="2400" b="0" spc="-20" dirty="0">
                <a:solidFill>
                  <a:srgbClr val="888888"/>
                </a:solidFill>
                <a:latin typeface="Times New Roman"/>
                <a:cs typeface="Times New Roman"/>
              </a:rPr>
              <a:t> </a:t>
            </a:r>
            <a:endParaRPr sz="2400" dirty="0">
              <a:latin typeface="Times New Roman"/>
              <a:cs typeface="Times New Roman"/>
            </a:endParaRPr>
          </a:p>
          <a:p>
            <a:pPr algn="ctr">
              <a:lnSpc>
                <a:spcPct val="100000"/>
              </a:lnSpc>
              <a:spcBef>
                <a:spcPts val="745"/>
              </a:spcBef>
            </a:pPr>
            <a:r>
              <a:rPr sz="3200" b="0" dirty="0">
                <a:solidFill>
                  <a:srgbClr val="375F92"/>
                </a:solidFill>
                <a:latin typeface="Times New Roman"/>
                <a:cs typeface="Times New Roman"/>
              </a:rPr>
              <a:t>“</a:t>
            </a:r>
            <a:r>
              <a:rPr lang="en-US" sz="2400" b="0" dirty="0">
                <a:solidFill>
                  <a:srgbClr val="375F92"/>
                </a:solidFill>
                <a:latin typeface="Times New Roman"/>
                <a:cs typeface="Times New Roman"/>
              </a:rPr>
              <a:t>E</a:t>
            </a:r>
            <a:r>
              <a:rPr lang="en-US" sz="2400" dirty="0">
                <a:solidFill>
                  <a:srgbClr val="375F92"/>
                </a:solidFill>
              </a:rPr>
              <a:t>nhancing images captured in low-light conditions often suffer from</a:t>
            </a:r>
            <a:br>
              <a:rPr lang="en-US" sz="2400" dirty="0">
                <a:solidFill>
                  <a:srgbClr val="375F92"/>
                </a:solidFill>
              </a:rPr>
            </a:br>
            <a:r>
              <a:rPr lang="en-US" sz="2400" dirty="0">
                <a:solidFill>
                  <a:srgbClr val="375F92"/>
                </a:solidFill>
              </a:rPr>
              <a:t> poor visibility and noise.</a:t>
            </a:r>
            <a:r>
              <a:rPr sz="3200" b="0" spc="-20" dirty="0">
                <a:solidFill>
                  <a:srgbClr val="375F92"/>
                </a:solidFill>
                <a:latin typeface="Times New Roman"/>
                <a:cs typeface="Times New Roman"/>
              </a:rPr>
              <a:t>”</a:t>
            </a:r>
            <a:endParaRPr sz="3200" dirty="0">
              <a:latin typeface="Times New Roman"/>
              <a:cs typeface="Times New Roman"/>
            </a:endParaRPr>
          </a:p>
        </p:txBody>
      </p:sp>
      <p:sp>
        <p:nvSpPr>
          <p:cNvPr id="3" name="object 3"/>
          <p:cNvSpPr txBox="1"/>
          <p:nvPr/>
        </p:nvSpPr>
        <p:spPr>
          <a:xfrm>
            <a:off x="2338323" y="3124200"/>
            <a:ext cx="7515353" cy="3408625"/>
          </a:xfrm>
          <a:prstGeom prst="rect">
            <a:avLst/>
          </a:prstGeom>
        </p:spPr>
        <p:txBody>
          <a:bodyPr vert="horz" wrap="square" lIns="0" tIns="73660" rIns="0" bIns="0" rtlCol="0">
            <a:spAutoFit/>
          </a:bodyPr>
          <a:lstStyle/>
          <a:p>
            <a:pPr marL="62230" algn="ctr">
              <a:lnSpc>
                <a:spcPct val="100000"/>
              </a:lnSpc>
              <a:spcBef>
                <a:spcPts val="580"/>
              </a:spcBef>
            </a:pPr>
            <a:r>
              <a:rPr sz="2000" b="1" dirty="0">
                <a:latin typeface="Times New Roman"/>
                <a:cs typeface="Times New Roman"/>
              </a:rPr>
              <a:t>PRESENTED</a:t>
            </a:r>
            <a:r>
              <a:rPr sz="2000" b="1" spc="-35" dirty="0">
                <a:latin typeface="Times New Roman"/>
                <a:cs typeface="Times New Roman"/>
              </a:rPr>
              <a:t> </a:t>
            </a:r>
            <a:r>
              <a:rPr sz="2000" b="1" spc="-25" dirty="0">
                <a:latin typeface="Times New Roman"/>
                <a:cs typeface="Times New Roman"/>
              </a:rPr>
              <a:t>BY</a:t>
            </a:r>
            <a:endParaRPr sz="2000" dirty="0">
              <a:latin typeface="Times New Roman"/>
              <a:cs typeface="Times New Roman"/>
            </a:endParaRPr>
          </a:p>
          <a:p>
            <a:pPr>
              <a:lnSpc>
                <a:spcPct val="100000"/>
              </a:lnSpc>
              <a:spcBef>
                <a:spcPts val="1060"/>
              </a:spcBef>
            </a:pPr>
            <a:r>
              <a:rPr lang="en-US" sz="2000" dirty="0">
                <a:latin typeface="Times New Roman"/>
                <a:cs typeface="Times New Roman"/>
              </a:rPr>
              <a:t>   1 </a:t>
            </a:r>
            <a:r>
              <a:rPr lang="en-US" sz="2000" b="1" dirty="0" err="1">
                <a:latin typeface="Times New Roman"/>
                <a:cs typeface="Times New Roman"/>
              </a:rPr>
              <a:t>Ajaganna</a:t>
            </a:r>
            <a:r>
              <a:rPr lang="en-US" sz="2000" b="1" dirty="0">
                <a:latin typeface="Times New Roman"/>
                <a:cs typeface="Times New Roman"/>
              </a:rPr>
              <a:t> </a:t>
            </a:r>
            <a:r>
              <a:rPr lang="en-US" sz="2000" dirty="0">
                <a:latin typeface="Times New Roman"/>
                <a:cs typeface="Times New Roman"/>
              </a:rPr>
              <a:t>                                                         1SJ22CS006</a:t>
            </a:r>
          </a:p>
          <a:p>
            <a:pPr>
              <a:lnSpc>
                <a:spcPct val="100000"/>
              </a:lnSpc>
              <a:spcBef>
                <a:spcPts val="1060"/>
              </a:spcBef>
            </a:pPr>
            <a:r>
              <a:rPr lang="en-US" sz="2000" dirty="0">
                <a:latin typeface="Times New Roman"/>
                <a:cs typeface="Times New Roman"/>
              </a:rPr>
              <a:t>   2 </a:t>
            </a:r>
            <a:r>
              <a:rPr lang="en-US" sz="2000" b="1" dirty="0">
                <a:latin typeface="Times New Roman"/>
                <a:cs typeface="Times New Roman"/>
              </a:rPr>
              <a:t>Akash </a:t>
            </a:r>
            <a:r>
              <a:rPr lang="en-US" sz="2000" dirty="0">
                <a:latin typeface="Times New Roman"/>
                <a:cs typeface="Times New Roman"/>
              </a:rPr>
              <a:t>                                                              1SJ22CS007</a:t>
            </a:r>
          </a:p>
          <a:p>
            <a:pPr>
              <a:lnSpc>
                <a:spcPct val="100000"/>
              </a:lnSpc>
              <a:spcBef>
                <a:spcPts val="1060"/>
              </a:spcBef>
            </a:pPr>
            <a:r>
              <a:rPr lang="en-US" sz="2000" dirty="0">
                <a:latin typeface="Times New Roman"/>
                <a:cs typeface="Times New Roman"/>
              </a:rPr>
              <a:t>   3 </a:t>
            </a:r>
            <a:r>
              <a:rPr lang="en-US" sz="2000" b="1" dirty="0" err="1">
                <a:latin typeface="Times New Roman"/>
                <a:cs typeface="Times New Roman"/>
              </a:rPr>
              <a:t>Akshay</a:t>
            </a:r>
            <a:r>
              <a:rPr lang="en-US" sz="2000" b="1" dirty="0">
                <a:latin typeface="Times New Roman"/>
                <a:cs typeface="Times New Roman"/>
              </a:rPr>
              <a:t> M S                                                     </a:t>
            </a:r>
            <a:r>
              <a:rPr lang="en-US" sz="2000" dirty="0">
                <a:latin typeface="Times New Roman"/>
                <a:cs typeface="Times New Roman"/>
              </a:rPr>
              <a:t>1SJ22CS008</a:t>
            </a:r>
          </a:p>
          <a:p>
            <a:pPr>
              <a:lnSpc>
                <a:spcPct val="100000"/>
              </a:lnSpc>
              <a:spcBef>
                <a:spcPts val="1060"/>
              </a:spcBef>
            </a:pPr>
            <a:r>
              <a:rPr lang="en-US" sz="2000" dirty="0">
                <a:latin typeface="Times New Roman"/>
                <a:cs typeface="Times New Roman"/>
              </a:rPr>
              <a:t>   4 </a:t>
            </a:r>
            <a:r>
              <a:rPr lang="en-US" sz="2000" b="1" dirty="0" err="1">
                <a:latin typeface="Times New Roman"/>
                <a:cs typeface="Times New Roman"/>
              </a:rPr>
              <a:t>Bhargav</a:t>
            </a:r>
            <a:r>
              <a:rPr lang="en-US" sz="2000" b="1" dirty="0">
                <a:latin typeface="Times New Roman"/>
                <a:cs typeface="Times New Roman"/>
              </a:rPr>
              <a:t> V                                                        </a:t>
            </a:r>
            <a:r>
              <a:rPr lang="en-US" sz="2000" dirty="0">
                <a:latin typeface="Times New Roman"/>
                <a:cs typeface="Times New Roman"/>
              </a:rPr>
              <a:t>1SJ22CS024</a:t>
            </a:r>
            <a:endParaRPr sz="2000" dirty="0">
              <a:latin typeface="Times New Roman"/>
              <a:cs typeface="Times New Roman"/>
            </a:endParaRPr>
          </a:p>
          <a:p>
            <a:pPr marL="1414780" algn="just">
              <a:lnSpc>
                <a:spcPct val="100000"/>
              </a:lnSpc>
            </a:pPr>
            <a:r>
              <a:rPr lang="en-US" sz="2000" b="1" dirty="0">
                <a:latin typeface="Times New Roman"/>
                <a:cs typeface="Times New Roman"/>
              </a:rPr>
              <a:t>        </a:t>
            </a:r>
          </a:p>
          <a:p>
            <a:pPr marL="1414780" algn="just">
              <a:lnSpc>
                <a:spcPct val="100000"/>
              </a:lnSpc>
            </a:pPr>
            <a:r>
              <a:rPr lang="en-US" sz="2000" b="1" dirty="0">
                <a:latin typeface="Times New Roman"/>
                <a:cs typeface="Times New Roman"/>
              </a:rPr>
              <a:t>      </a:t>
            </a:r>
            <a:r>
              <a:rPr sz="2000" b="1" dirty="0">
                <a:latin typeface="Times New Roman"/>
                <a:cs typeface="Times New Roman"/>
              </a:rPr>
              <a:t>UNDER</a:t>
            </a:r>
            <a:r>
              <a:rPr sz="2000" b="1" spc="-85" dirty="0">
                <a:latin typeface="Times New Roman"/>
                <a:cs typeface="Times New Roman"/>
              </a:rPr>
              <a:t> </a:t>
            </a:r>
            <a:r>
              <a:rPr sz="2000" b="1" dirty="0">
                <a:latin typeface="Times New Roman"/>
                <a:cs typeface="Times New Roman"/>
              </a:rPr>
              <a:t>THE</a:t>
            </a:r>
            <a:r>
              <a:rPr sz="2000" b="1" spc="-55" dirty="0">
                <a:latin typeface="Times New Roman"/>
                <a:cs typeface="Times New Roman"/>
              </a:rPr>
              <a:t> </a:t>
            </a:r>
            <a:r>
              <a:rPr sz="2000" b="1" dirty="0">
                <a:latin typeface="Times New Roman"/>
                <a:cs typeface="Times New Roman"/>
              </a:rPr>
              <a:t>GUIDANCE</a:t>
            </a:r>
            <a:r>
              <a:rPr sz="2000" b="1" spc="-75" dirty="0">
                <a:latin typeface="Times New Roman"/>
                <a:cs typeface="Times New Roman"/>
              </a:rPr>
              <a:t> </a:t>
            </a:r>
            <a:r>
              <a:rPr sz="2000" b="1" spc="-25" dirty="0">
                <a:latin typeface="Times New Roman"/>
                <a:cs typeface="Times New Roman"/>
              </a:rPr>
              <a:t>OF</a:t>
            </a:r>
            <a:endParaRPr lang="en-US" sz="2000" b="1" spc="-25" dirty="0">
              <a:latin typeface="Times New Roman"/>
              <a:cs typeface="Times New Roman"/>
            </a:endParaRPr>
          </a:p>
          <a:p>
            <a:pPr marL="1414780" algn="just">
              <a:lnSpc>
                <a:spcPct val="100000"/>
              </a:lnSpc>
            </a:pPr>
            <a:r>
              <a:rPr lang="en-US" sz="2000" b="1" spc="-25" dirty="0">
                <a:latin typeface="Times New Roman"/>
                <a:cs typeface="Times New Roman"/>
              </a:rPr>
              <a:t>                   Dr </a:t>
            </a:r>
            <a:r>
              <a:rPr lang="en-US" sz="2000" b="1" spc="-25" dirty="0" err="1">
                <a:latin typeface="Times New Roman"/>
                <a:cs typeface="Times New Roman"/>
              </a:rPr>
              <a:t>Seshaiah</a:t>
            </a:r>
            <a:r>
              <a:rPr lang="en-US" sz="2000" b="1" spc="-25" dirty="0">
                <a:latin typeface="Times New Roman"/>
                <a:cs typeface="Times New Roman"/>
              </a:rPr>
              <a:t> M</a:t>
            </a:r>
          </a:p>
          <a:p>
            <a:pPr marL="1414780" algn="just">
              <a:lnSpc>
                <a:spcPct val="100000"/>
              </a:lnSpc>
            </a:pPr>
            <a:r>
              <a:rPr lang="en-US" sz="2000" b="1" spc="-25" dirty="0">
                <a:latin typeface="Times New Roman"/>
                <a:cs typeface="Times New Roman"/>
              </a:rPr>
              <a:t>Associate professor, Department of CSE</a:t>
            </a:r>
            <a:endParaRPr sz="2000" dirty="0">
              <a:latin typeface="Times New Roman"/>
              <a:cs typeface="Times New Roman"/>
            </a:endParaRPr>
          </a:p>
        </p:txBody>
      </p:sp>
      <p:grpSp>
        <p:nvGrpSpPr>
          <p:cNvPr id="4" name="object 4"/>
          <p:cNvGrpSpPr/>
          <p:nvPr/>
        </p:nvGrpSpPr>
        <p:grpSpPr>
          <a:xfrm>
            <a:off x="831989" y="-38"/>
            <a:ext cx="11360150" cy="1735455"/>
            <a:chOff x="831989" y="-38"/>
            <a:chExt cx="11360150" cy="1735455"/>
          </a:xfrm>
        </p:grpSpPr>
        <p:sp>
          <p:nvSpPr>
            <p:cNvPr id="5" name="object 5"/>
            <p:cNvSpPr/>
            <p:nvPr/>
          </p:nvSpPr>
          <p:spPr>
            <a:xfrm>
              <a:off x="10713085" y="-38"/>
              <a:ext cx="1478915" cy="1184910"/>
            </a:xfrm>
            <a:custGeom>
              <a:avLst/>
              <a:gdLst/>
              <a:ahLst/>
              <a:cxnLst/>
              <a:rect l="l" t="t" r="r" b="b"/>
              <a:pathLst>
                <a:path w="1478915" h="1184910">
                  <a:moveTo>
                    <a:pt x="1478915" y="0"/>
                  </a:moveTo>
                  <a:lnTo>
                    <a:pt x="0" y="0"/>
                  </a:lnTo>
                  <a:lnTo>
                    <a:pt x="0" y="1184567"/>
                  </a:lnTo>
                  <a:lnTo>
                    <a:pt x="1478915" y="1184567"/>
                  </a:lnTo>
                  <a:lnTo>
                    <a:pt x="1478915" y="0"/>
                  </a:lnTo>
                  <a:close/>
                </a:path>
              </a:pathLst>
            </a:custGeom>
            <a:solidFill>
              <a:srgbClr val="FFFFFF"/>
            </a:solidFill>
          </p:spPr>
          <p:txBody>
            <a:bodyPr wrap="square" lIns="0" tIns="0" rIns="0" bIns="0" rtlCol="0"/>
            <a:lstStyle/>
            <a:p>
              <a:endParaRPr/>
            </a:p>
          </p:txBody>
        </p:sp>
        <p:pic>
          <p:nvPicPr>
            <p:cNvPr id="6" name="object 6"/>
            <p:cNvPicPr/>
            <p:nvPr/>
          </p:nvPicPr>
          <p:blipFill>
            <a:blip r:embed="rId2" cstate="print"/>
            <a:stretch>
              <a:fillRect/>
            </a:stretch>
          </p:blipFill>
          <p:spPr>
            <a:xfrm>
              <a:off x="831989" y="110617"/>
              <a:ext cx="10214229" cy="1624710"/>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64048" y="316814"/>
            <a:ext cx="2266950" cy="514350"/>
          </a:xfrm>
          <a:prstGeom prst="rect">
            <a:avLst/>
          </a:prstGeom>
        </p:spPr>
        <p:txBody>
          <a:bodyPr vert="horz" wrap="square" lIns="0" tIns="13335" rIns="0" bIns="0" rtlCol="0">
            <a:spAutoFit/>
          </a:bodyPr>
          <a:lstStyle/>
          <a:p>
            <a:pPr marL="12700">
              <a:lnSpc>
                <a:spcPct val="100000"/>
              </a:lnSpc>
              <a:spcBef>
                <a:spcPts val="105"/>
              </a:spcBef>
            </a:pPr>
            <a:r>
              <a:rPr sz="3200" spc="-10" dirty="0"/>
              <a:t>CONTENTS</a:t>
            </a:r>
            <a:endParaRPr sz="320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45" dirty="0"/>
              <a:t> </a:t>
            </a:r>
            <a:r>
              <a:rPr dirty="0"/>
              <a:t>of CSE,</a:t>
            </a:r>
            <a:r>
              <a:rPr spc="-15" dirty="0"/>
              <a:t> </a:t>
            </a:r>
            <a:r>
              <a:rPr spc="-10" dirty="0"/>
              <a:t>SJCIT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375"/>
              </a:lnSpc>
            </a:pPr>
            <a:fld id="{81D60167-4931-47E6-BA6A-407CBD079E47}" type="slidenum">
              <a:rPr spc="-25" dirty="0"/>
              <a:t>2</a:t>
            </a:fld>
            <a:endParaRPr spc="-25" dirty="0"/>
          </a:p>
        </p:txBody>
      </p:sp>
      <p:sp>
        <p:nvSpPr>
          <p:cNvPr id="3" name="object 3"/>
          <p:cNvSpPr txBox="1"/>
          <p:nvPr/>
        </p:nvSpPr>
        <p:spPr>
          <a:xfrm>
            <a:off x="1100124" y="891071"/>
            <a:ext cx="7967676" cy="4173707"/>
          </a:xfrm>
          <a:prstGeom prst="rect">
            <a:avLst/>
          </a:prstGeom>
        </p:spPr>
        <p:txBody>
          <a:bodyPr vert="horz" wrap="square" lIns="0" tIns="73660" rIns="0" bIns="0" rtlCol="0">
            <a:spAutoFit/>
          </a:bodyPr>
          <a:lstStyle/>
          <a:p>
            <a:pPr marL="514350" indent="-514350" eaLnBrk="1" hangingPunct="1">
              <a:lnSpc>
                <a:spcPct val="150000"/>
              </a:lnSpc>
              <a:buFont typeface="+mj-lt"/>
              <a:buAutoNum type="romanUcPeriod"/>
            </a:pPr>
            <a:r>
              <a:rPr lang="en-US" sz="2000" dirty="0"/>
              <a:t>Problem Statement/Title </a:t>
            </a:r>
          </a:p>
          <a:p>
            <a:pPr marL="514350" indent="-514350" eaLnBrk="1" hangingPunct="1">
              <a:lnSpc>
                <a:spcPct val="150000"/>
              </a:lnSpc>
              <a:buFont typeface="+mj-lt"/>
              <a:buAutoNum type="romanUcPeriod"/>
            </a:pPr>
            <a:r>
              <a:rPr lang="en-US" sz="2000" dirty="0"/>
              <a:t>Abstract</a:t>
            </a:r>
          </a:p>
          <a:p>
            <a:pPr marL="514350" indent="-514350" eaLnBrk="1" hangingPunct="1">
              <a:lnSpc>
                <a:spcPct val="150000"/>
              </a:lnSpc>
              <a:buFont typeface="+mj-lt"/>
              <a:buAutoNum type="romanUcPeriod"/>
            </a:pPr>
            <a:r>
              <a:rPr lang="en-US" sz="2000" dirty="0"/>
              <a:t> Introduction</a:t>
            </a:r>
          </a:p>
          <a:p>
            <a:pPr marL="514350" indent="-514350" eaLnBrk="1" hangingPunct="1">
              <a:lnSpc>
                <a:spcPct val="150000"/>
              </a:lnSpc>
              <a:buFont typeface="+mj-lt"/>
              <a:buAutoNum type="romanUcPeriod"/>
            </a:pPr>
            <a:r>
              <a:rPr lang="en-US" sz="2000" dirty="0"/>
              <a:t> Literature Survey (comparison with existing system) </a:t>
            </a:r>
          </a:p>
          <a:p>
            <a:pPr marL="514350" indent="-514350" eaLnBrk="1" hangingPunct="1">
              <a:lnSpc>
                <a:spcPct val="150000"/>
              </a:lnSpc>
              <a:buFont typeface="+mj-lt"/>
              <a:buAutoNum type="romanUcPeriod"/>
            </a:pPr>
            <a:r>
              <a:rPr lang="en-US" sz="2000" dirty="0"/>
              <a:t>SRS (System requirements specification) </a:t>
            </a:r>
          </a:p>
          <a:p>
            <a:pPr marL="514350" indent="-514350" eaLnBrk="1" hangingPunct="1">
              <a:lnSpc>
                <a:spcPct val="150000"/>
              </a:lnSpc>
              <a:buFont typeface="+mj-lt"/>
              <a:buAutoNum type="romanUcPeriod"/>
            </a:pPr>
            <a:r>
              <a:rPr lang="en-US" sz="2000" dirty="0"/>
              <a:t>Architecture/System Design (high level and detailed design) </a:t>
            </a:r>
          </a:p>
          <a:p>
            <a:pPr marL="514350" indent="-514350" eaLnBrk="1" hangingPunct="1">
              <a:lnSpc>
                <a:spcPct val="150000"/>
              </a:lnSpc>
              <a:buFont typeface="+mj-lt"/>
              <a:buAutoNum type="romanUcPeriod"/>
            </a:pPr>
            <a:r>
              <a:rPr lang="en-US" sz="2000" dirty="0"/>
              <a:t>Summarize the methodologies/Algorithms implemented</a:t>
            </a:r>
          </a:p>
          <a:p>
            <a:pPr marL="514350" indent="-514350" eaLnBrk="1" hangingPunct="1">
              <a:lnSpc>
                <a:spcPct val="150000"/>
              </a:lnSpc>
              <a:buFont typeface="+mj-lt"/>
              <a:buAutoNum type="romanUcPeriod"/>
            </a:pPr>
            <a:r>
              <a:rPr lang="en-US" sz="2000" dirty="0"/>
              <a:t> Partial results obtained </a:t>
            </a:r>
          </a:p>
          <a:p>
            <a:pPr marL="514350" indent="-514350" eaLnBrk="1" hangingPunct="1">
              <a:lnSpc>
                <a:spcPct val="150000"/>
              </a:lnSpc>
              <a:buFont typeface="+mj-lt"/>
              <a:buAutoNum type="romanUcPeriod"/>
            </a:pPr>
            <a:r>
              <a:rPr lang="en-US" sz="2000" dirty="0"/>
              <a:t>Project Plan 3.0</a:t>
            </a:r>
            <a:endParaRPr lang="en-IN" sz="20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0">
            <a:extLst>
              <a:ext uri="{FF2B5EF4-FFF2-40B4-BE49-F238E27FC236}">
                <a16:creationId xmlns:a16="http://schemas.microsoft.com/office/drawing/2014/main" id="{375409F1-AD9D-1C68-0B6B-CB03E58EC60B}"/>
              </a:ext>
            </a:extLst>
          </p:cNvPr>
          <p:cNvSpPr/>
          <p:nvPr/>
        </p:nvSpPr>
        <p:spPr>
          <a:xfrm>
            <a:off x="1447800" y="2079308"/>
            <a:ext cx="10134600" cy="856298"/>
          </a:xfrm>
          <a:prstGeom prst="rect">
            <a:avLst/>
          </a:prstGeom>
          <a:noFill/>
          <a:ln/>
        </p:spPr>
        <p:txBody>
          <a:bodyPr wrap="square" lIns="0" tIns="0" rIns="0" bIns="0" rtlCol="0" anchor="t"/>
          <a:lstStyle/>
          <a:p>
            <a:pPr marL="0" indent="0" algn="l">
              <a:lnSpc>
                <a:spcPts val="5550"/>
              </a:lnSpc>
              <a:buNone/>
            </a:pPr>
            <a:r>
              <a:rPr lang="en-US" sz="3200" dirty="0">
                <a:solidFill>
                  <a:srgbClr val="272D45"/>
                </a:solidFill>
                <a:latin typeface="Kanit Light" pitchFamily="34" charset="0"/>
                <a:ea typeface="Kanit Light" pitchFamily="34" charset="-122"/>
                <a:cs typeface="Kanit Light" pitchFamily="34" charset="-120"/>
              </a:rPr>
              <a:t>Enhancing Low-Light Images: A Hybrid Deep Learning Approach</a:t>
            </a:r>
            <a:endParaRPr lang="en-US" sz="3200" dirty="0"/>
          </a:p>
        </p:txBody>
      </p:sp>
      <p:sp>
        <p:nvSpPr>
          <p:cNvPr id="9" name="Text 1">
            <a:extLst>
              <a:ext uri="{FF2B5EF4-FFF2-40B4-BE49-F238E27FC236}">
                <a16:creationId xmlns:a16="http://schemas.microsoft.com/office/drawing/2014/main" id="{3C707B0E-45A8-D1BD-FEFD-4D7D88486154}"/>
              </a:ext>
            </a:extLst>
          </p:cNvPr>
          <p:cNvSpPr/>
          <p:nvPr/>
        </p:nvSpPr>
        <p:spPr>
          <a:xfrm>
            <a:off x="1219200" y="4114800"/>
            <a:ext cx="9583968" cy="1088708"/>
          </a:xfrm>
          <a:prstGeom prst="rect">
            <a:avLst/>
          </a:prstGeom>
          <a:noFill/>
          <a:ln/>
        </p:spPr>
        <p:txBody>
          <a:bodyPr wrap="square" lIns="0" tIns="0" rIns="0" bIns="0" rtlCol="0" anchor="t"/>
          <a:lstStyle/>
          <a:p>
            <a:pPr marL="0" indent="0" algn="l">
              <a:lnSpc>
                <a:spcPts val="2850"/>
              </a:lnSpc>
              <a:buNone/>
            </a:pPr>
            <a:r>
              <a:rPr lang="en-US" sz="1750" dirty="0">
                <a:solidFill>
                  <a:srgbClr val="2C3249"/>
                </a:solidFill>
                <a:latin typeface="Martel Sans" pitchFamily="34" charset="0"/>
                <a:ea typeface="Martel Sans" pitchFamily="34" charset="-122"/>
                <a:cs typeface="Martel Sans" pitchFamily="34" charset="-120"/>
              </a:rPr>
              <a:t>Images captured in low-light conditions often suffer from poor visibility and excessive noise. This project presents a novel algorithm designed to overcome these challenges, significantly improving image quality while preserving crucial details.</a:t>
            </a:r>
            <a:endParaRPr lang="en-US" sz="1750" dirty="0"/>
          </a:p>
        </p:txBody>
      </p:sp>
      <p:sp>
        <p:nvSpPr>
          <p:cNvPr id="11" name="Text 1">
            <a:extLst>
              <a:ext uri="{FF2B5EF4-FFF2-40B4-BE49-F238E27FC236}">
                <a16:creationId xmlns:a16="http://schemas.microsoft.com/office/drawing/2014/main" id="{12E64337-0B8D-B805-531F-EFE08DDF0C19}"/>
              </a:ext>
            </a:extLst>
          </p:cNvPr>
          <p:cNvSpPr/>
          <p:nvPr/>
        </p:nvSpPr>
        <p:spPr>
          <a:xfrm>
            <a:off x="3505200" y="990600"/>
            <a:ext cx="11208674" cy="1088708"/>
          </a:xfrm>
          <a:prstGeom prst="rect">
            <a:avLst/>
          </a:prstGeom>
          <a:noFill/>
          <a:ln/>
        </p:spPr>
        <p:txBody>
          <a:bodyPr wrap="square" lIns="0" tIns="0" rIns="0" bIns="0" rtlCol="0" anchor="t"/>
          <a:lstStyle/>
          <a:p>
            <a:pPr marL="0" indent="0" algn="l">
              <a:lnSpc>
                <a:spcPts val="2850"/>
              </a:lnSpc>
              <a:buNone/>
            </a:pPr>
            <a:r>
              <a:rPr lang="en-US" sz="3200" dirty="0">
                <a:solidFill>
                  <a:srgbClr val="2C3249"/>
                </a:solidFill>
                <a:latin typeface="Bookman Old Style" panose="02050604050505020204" pitchFamily="18" charset="0"/>
              </a:rPr>
              <a:t>PROBLEM STATEMENT</a:t>
            </a:r>
            <a:endParaRPr lang="en-US" sz="3200" dirty="0">
              <a:latin typeface="Bookman Old Style" panose="02050604050505020204" pitchFamily="18" charset="0"/>
            </a:endParaRPr>
          </a:p>
        </p:txBody>
      </p:sp>
    </p:spTree>
    <p:extLst>
      <p:ext uri="{BB962C8B-B14F-4D97-AF65-F5344CB8AC3E}">
        <p14:creationId xmlns:p14="http://schemas.microsoft.com/office/powerpoint/2010/main" val="2892163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11">
                                            <p:txEl>
                                              <p:pRg st="0" end="0"/>
                                            </p:txEl>
                                          </p:spTgt>
                                        </p:tgtEl>
                                        <p:attrNameLst>
                                          <p:attrName>ppt_x</p:attrName>
                                          <p:attrName>ppt_y</p:attrName>
                                        </p:attrNameLst>
                                      </p:cBhvr>
                                    </p:animMotion>
                                    <p:animRot by="1500000">
                                      <p:cBhvr>
                                        <p:cTn id="7" dur="125" fill="hold">
                                          <p:stCondLst>
                                            <p:cond delay="0"/>
                                          </p:stCondLst>
                                        </p:cTn>
                                        <p:tgtEl>
                                          <p:spTgt spid="11">
                                            <p:txEl>
                                              <p:pRg st="0" end="0"/>
                                            </p:txEl>
                                          </p:spTgt>
                                        </p:tgtEl>
                                        <p:attrNameLst>
                                          <p:attrName>r</p:attrName>
                                        </p:attrNameLst>
                                      </p:cBhvr>
                                    </p:animRot>
                                    <p:animRot by="-1500000">
                                      <p:cBhvr>
                                        <p:cTn id="8" dur="125" fill="hold">
                                          <p:stCondLst>
                                            <p:cond delay="125"/>
                                          </p:stCondLst>
                                        </p:cTn>
                                        <p:tgtEl>
                                          <p:spTgt spid="11">
                                            <p:txEl>
                                              <p:pRg st="0" end="0"/>
                                            </p:txEl>
                                          </p:spTgt>
                                        </p:tgtEl>
                                        <p:attrNameLst>
                                          <p:attrName>r</p:attrName>
                                        </p:attrNameLst>
                                      </p:cBhvr>
                                    </p:animRot>
                                    <p:animRot by="-1500000">
                                      <p:cBhvr>
                                        <p:cTn id="9" dur="125" fill="hold">
                                          <p:stCondLst>
                                            <p:cond delay="250"/>
                                          </p:stCondLst>
                                        </p:cTn>
                                        <p:tgtEl>
                                          <p:spTgt spid="11">
                                            <p:txEl>
                                              <p:pRg st="0" end="0"/>
                                            </p:txEl>
                                          </p:spTgt>
                                        </p:tgtEl>
                                        <p:attrNameLst>
                                          <p:attrName>r</p:attrName>
                                        </p:attrNameLst>
                                      </p:cBhvr>
                                    </p:animRot>
                                    <p:animRot by="1500000">
                                      <p:cBhvr>
                                        <p:cTn id="10" dur="125" fill="hold">
                                          <p:stCondLst>
                                            <p:cond delay="375"/>
                                          </p:stCondLst>
                                        </p:cTn>
                                        <p:tgtEl>
                                          <p:spTgt spid="11">
                                            <p:txEl>
                                              <p:pRg st="0" end="0"/>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46506" rIns="0" bIns="0" rtlCol="0">
            <a:spAutoFit/>
          </a:bodyPr>
          <a:lstStyle/>
          <a:p>
            <a:pPr marL="3144520">
              <a:lnSpc>
                <a:spcPct val="100000"/>
              </a:lnSpc>
              <a:spcBef>
                <a:spcPts val="105"/>
              </a:spcBef>
            </a:pPr>
            <a:r>
              <a:rPr sz="3200" spc="-10" dirty="0"/>
              <a:t>ABSTRACT</a:t>
            </a:r>
            <a:endParaRPr sz="320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45" dirty="0"/>
              <a:t> </a:t>
            </a:r>
            <a:r>
              <a:rPr dirty="0"/>
              <a:t>of CSE,</a:t>
            </a:r>
            <a:r>
              <a:rPr spc="-15" dirty="0"/>
              <a:t> </a:t>
            </a:r>
            <a:r>
              <a:rPr spc="-10" dirty="0"/>
              <a:t>SJCIT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375"/>
              </a:lnSpc>
            </a:pPr>
            <a:fld id="{81D60167-4931-47E6-BA6A-407CBD079E47}" type="slidenum">
              <a:rPr spc="-25" dirty="0"/>
              <a:t>4</a:t>
            </a:fld>
            <a:endParaRPr spc="-25" dirty="0"/>
          </a:p>
        </p:txBody>
      </p:sp>
      <p:sp>
        <p:nvSpPr>
          <p:cNvPr id="3" name="object 3"/>
          <p:cNvSpPr txBox="1"/>
          <p:nvPr/>
        </p:nvSpPr>
        <p:spPr>
          <a:xfrm>
            <a:off x="1143000" y="1447800"/>
            <a:ext cx="9806685" cy="3285515"/>
          </a:xfrm>
          <a:prstGeom prst="rect">
            <a:avLst/>
          </a:prstGeom>
        </p:spPr>
        <p:txBody>
          <a:bodyPr vert="horz" wrap="square" lIns="0" tIns="12700" rIns="0" bIns="0" rtlCol="0">
            <a:spAutoFit/>
          </a:bodyPr>
          <a:lstStyle/>
          <a:p>
            <a:pPr algn="just">
              <a:lnSpc>
                <a:spcPct val="150000"/>
              </a:lnSpc>
            </a:pPr>
            <a:r>
              <a:rPr lang="en-US" dirty="0"/>
              <a:t>Low-light conditions significantly degrade image quality, affecting applications such as surveillance, photography, and autonomous systems. To address this challenge, this project presents a hybrid solution that combines </a:t>
            </a:r>
            <a:r>
              <a:rPr lang="en-US" b="1" dirty="0" err="1"/>
              <a:t>DEDUNet</a:t>
            </a:r>
            <a:r>
              <a:rPr lang="en-US" dirty="0"/>
              <a:t>, a deep learning model for brightness enhancement and noise reduction, with advanced image processing techniques such as </a:t>
            </a:r>
            <a:r>
              <a:rPr lang="en-US" b="1" dirty="0"/>
              <a:t>gamma correction, CLAHE, selective enhancement, and color grading</a:t>
            </a:r>
            <a:r>
              <a:rPr lang="en-US" dirty="0"/>
              <a:t>. Furthermore, a web-based interactive interface has been developed, providing advanced color controls, real-time quality metrics (PSNR, SSIM, and Enhancement Score), and user feedback through a </a:t>
            </a:r>
            <a:r>
              <a:rPr lang="en-US" b="1" dirty="0"/>
              <a:t>5-star</a:t>
            </a:r>
            <a:r>
              <a:rPr lang="en-US" dirty="0"/>
              <a:t> rating system.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75713" y="316814"/>
            <a:ext cx="8640572" cy="781290"/>
          </a:xfrm>
          <a:prstGeom prst="rect">
            <a:avLst/>
          </a:prstGeom>
        </p:spPr>
        <p:txBody>
          <a:bodyPr vert="horz" wrap="square" lIns="0" tIns="286054" rIns="0" bIns="0" rtlCol="0">
            <a:spAutoFit/>
          </a:bodyPr>
          <a:lstStyle/>
          <a:p>
            <a:pPr marL="2894965" algn="just">
              <a:lnSpc>
                <a:spcPct val="100000"/>
              </a:lnSpc>
              <a:spcBef>
                <a:spcPts val="105"/>
              </a:spcBef>
            </a:pPr>
            <a:r>
              <a:rPr sz="3200" spc="-10" dirty="0"/>
              <a:t>INTRODUCTION</a:t>
            </a:r>
            <a:endParaRPr sz="3200"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45" dirty="0"/>
              <a:t> </a:t>
            </a:r>
            <a:r>
              <a:rPr dirty="0"/>
              <a:t>of CSE,</a:t>
            </a:r>
            <a:r>
              <a:rPr spc="-15" dirty="0"/>
              <a:t> </a:t>
            </a:r>
            <a:r>
              <a:rPr spc="-10" dirty="0"/>
              <a:t>SJCIT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375"/>
              </a:lnSpc>
            </a:pPr>
            <a:fld id="{81D60167-4931-47E6-BA6A-407CBD079E47}" type="slidenum">
              <a:rPr spc="-25" dirty="0"/>
              <a:t>5</a:t>
            </a:fld>
            <a:endParaRPr spc="-25" dirty="0"/>
          </a:p>
        </p:txBody>
      </p:sp>
      <p:sp>
        <p:nvSpPr>
          <p:cNvPr id="3" name="object 3"/>
          <p:cNvSpPr txBox="1"/>
          <p:nvPr/>
        </p:nvSpPr>
        <p:spPr>
          <a:xfrm>
            <a:off x="1336294" y="1698349"/>
            <a:ext cx="9538970" cy="3713196"/>
          </a:xfrm>
          <a:prstGeom prst="rect">
            <a:avLst/>
          </a:prstGeom>
        </p:spPr>
        <p:txBody>
          <a:bodyPr vert="horz" wrap="square" lIns="0" tIns="12065" rIns="0" bIns="0" rtlCol="0">
            <a:spAutoFit/>
          </a:bodyPr>
          <a:lstStyle/>
          <a:p>
            <a:pPr algn="just">
              <a:lnSpc>
                <a:spcPct val="150000"/>
              </a:lnSpc>
            </a:pPr>
            <a:r>
              <a:rPr lang="en-US" dirty="0"/>
              <a:t>Low-light images often suffer from poor brightness, noise, and loss of details. Traditional methods such as histogram equalization, CLAHE, and gamma correction improve brightness but usually amplify noise. Deep learning approaches like </a:t>
            </a:r>
            <a:r>
              <a:rPr lang="en-US" dirty="0" err="1"/>
              <a:t>DEDUNet</a:t>
            </a:r>
            <a:r>
              <a:rPr lang="en-US" dirty="0"/>
              <a:t> overcome this by enhancing brightness and reducing noise simultaneously. Our system combines both approaches to achieve robust and high-quality image enhancement.</a:t>
            </a:r>
          </a:p>
          <a:p>
            <a:pPr marL="342900" indent="-342900" algn="just">
              <a:lnSpc>
                <a:spcPct val="150000"/>
              </a:lnSpc>
              <a:buFont typeface="+mj-lt"/>
              <a:buAutoNum type="arabicPeriod"/>
            </a:pPr>
            <a:r>
              <a:rPr lang="en-US" b="1" dirty="0"/>
              <a:t>Deep Learning (</a:t>
            </a:r>
            <a:r>
              <a:rPr lang="en-US" b="1" dirty="0" err="1"/>
              <a:t>DEDUNet</a:t>
            </a:r>
            <a:r>
              <a:rPr lang="en-US" b="1" dirty="0"/>
              <a:t>)</a:t>
            </a:r>
            <a:r>
              <a:rPr lang="en-US" dirty="0"/>
              <a:t> for robust enhancement.</a:t>
            </a:r>
          </a:p>
          <a:p>
            <a:pPr lvl="1">
              <a:lnSpc>
                <a:spcPct val="150000"/>
              </a:lnSpc>
            </a:pPr>
            <a:r>
              <a:rPr lang="en-US" b="1" dirty="0"/>
              <a:t>2.  Classical Processing</a:t>
            </a:r>
            <a:r>
              <a:rPr lang="en-US" dirty="0"/>
              <a:t> for fine adjustments and professional-grade controls.</a:t>
            </a:r>
          </a:p>
          <a:p>
            <a:pPr lvl="1">
              <a:lnSpc>
                <a:spcPct val="150000"/>
              </a:lnSpc>
            </a:pPr>
            <a:r>
              <a:rPr lang="en-US" b="1" dirty="0"/>
              <a:t>3.  Interactive Web App</a:t>
            </a:r>
            <a:r>
              <a:rPr lang="en-US" dirty="0"/>
              <a:t> for user-driven evaluation.</a:t>
            </a:r>
          </a:p>
          <a:p>
            <a:pPr marL="12700" marR="5080" algn="just">
              <a:lnSpc>
                <a:spcPct val="150000"/>
              </a:lnSpc>
              <a:spcBef>
                <a:spcPts val="95"/>
              </a:spcBef>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761210859"/>
              </p:ext>
            </p:extLst>
          </p:nvPr>
        </p:nvGraphicFramePr>
        <p:xfrm>
          <a:off x="457200" y="990600"/>
          <a:ext cx="9753600" cy="5394960"/>
        </p:xfrm>
        <a:graphic>
          <a:graphicData uri="http://schemas.openxmlformats.org/drawingml/2006/table">
            <a:tbl>
              <a:tblPr firstRow="1" bandRow="1">
                <a:tableStyleId>{5C22544A-7EE6-4342-B048-85BDC9FD1C3A}</a:tableStyleId>
              </a:tblPr>
              <a:tblGrid>
                <a:gridCol w="858317">
                  <a:extLst>
                    <a:ext uri="{9D8B030D-6E8A-4147-A177-3AD203B41FA5}">
                      <a16:colId xmlns:a16="http://schemas.microsoft.com/office/drawing/2014/main" val="20000"/>
                    </a:ext>
                  </a:extLst>
                </a:gridCol>
                <a:gridCol w="3637483">
                  <a:extLst>
                    <a:ext uri="{9D8B030D-6E8A-4147-A177-3AD203B41FA5}">
                      <a16:colId xmlns:a16="http://schemas.microsoft.com/office/drawing/2014/main" val="20001"/>
                    </a:ext>
                  </a:extLst>
                </a:gridCol>
                <a:gridCol w="2819400">
                  <a:extLst>
                    <a:ext uri="{9D8B030D-6E8A-4147-A177-3AD203B41FA5}">
                      <a16:colId xmlns:a16="http://schemas.microsoft.com/office/drawing/2014/main" val="20002"/>
                    </a:ext>
                  </a:extLst>
                </a:gridCol>
                <a:gridCol w="2438400">
                  <a:extLst>
                    <a:ext uri="{9D8B030D-6E8A-4147-A177-3AD203B41FA5}">
                      <a16:colId xmlns:a16="http://schemas.microsoft.com/office/drawing/2014/main" val="20003"/>
                    </a:ext>
                  </a:extLst>
                </a:gridCol>
              </a:tblGrid>
              <a:tr h="289560">
                <a:tc>
                  <a:txBody>
                    <a:bodyPr/>
                    <a:lstStyle/>
                    <a:p>
                      <a:r>
                        <a:rPr lang="en-US" dirty="0"/>
                        <a:t>Sl. No.</a:t>
                      </a:r>
                    </a:p>
                  </a:txBody>
                  <a:tcPr anchor="ctr"/>
                </a:tc>
                <a:tc>
                  <a:txBody>
                    <a:bodyPr/>
                    <a:lstStyle/>
                    <a:p>
                      <a:r>
                        <a:rPr lang="en-US" dirty="0"/>
                        <a:t>Title &amp; Year of Publication</a:t>
                      </a:r>
                    </a:p>
                  </a:txBody>
                  <a:tcPr anchor="ctr"/>
                </a:tc>
                <a:tc>
                  <a:txBody>
                    <a:bodyPr/>
                    <a:lstStyle/>
                    <a:p>
                      <a:r>
                        <a:rPr lang="en-US"/>
                        <a:t>Methodology Used</a:t>
                      </a:r>
                    </a:p>
                  </a:txBody>
                  <a:tcPr anchor="ctr"/>
                </a:tc>
                <a:tc>
                  <a:txBody>
                    <a:bodyPr/>
                    <a:lstStyle/>
                    <a:p>
                      <a:r>
                        <a:rPr lang="en-US"/>
                        <a:t>Limitations</a:t>
                      </a:r>
                    </a:p>
                  </a:txBody>
                  <a:tcPr anchor="ctr"/>
                </a:tc>
                <a:extLst>
                  <a:ext uri="{0D108BD9-81ED-4DB2-BD59-A6C34878D82A}">
                    <a16:rowId xmlns:a16="http://schemas.microsoft.com/office/drawing/2014/main" val="10000"/>
                  </a:ext>
                </a:extLst>
              </a:tr>
              <a:tr h="1158240">
                <a:tc>
                  <a:txBody>
                    <a:bodyPr/>
                    <a:lstStyle/>
                    <a:p>
                      <a:r>
                        <a:rPr lang="en-US"/>
                        <a:t>1</a:t>
                      </a:r>
                    </a:p>
                  </a:txBody>
                  <a:tcPr anchor="ctr"/>
                </a:tc>
                <a:tc>
                  <a:txBody>
                    <a:bodyPr/>
                    <a:lstStyle/>
                    <a:p>
                      <a:r>
                        <a:rPr lang="en-US" i="1" dirty="0"/>
                        <a:t>Low-Light Image Enhancement by Principal Component Analysis</a:t>
                      </a:r>
                      <a:r>
                        <a:rPr lang="en-US" dirty="0"/>
                        <a:t> (2018) </a:t>
                      </a:r>
                    </a:p>
                  </a:txBody>
                  <a:tcPr anchor="ctr"/>
                </a:tc>
                <a:tc>
                  <a:txBody>
                    <a:bodyPr/>
                    <a:lstStyle/>
                    <a:p>
                      <a:r>
                        <a:rPr lang="en-US"/>
                        <a:t>PCA-based enhancement using feature projection to improve brightness and contrast</a:t>
                      </a:r>
                    </a:p>
                  </a:txBody>
                  <a:tcPr anchor="ctr"/>
                </a:tc>
                <a:tc>
                  <a:txBody>
                    <a:bodyPr/>
                    <a:lstStyle/>
                    <a:p>
                      <a:r>
                        <a:rPr lang="en-US" dirty="0"/>
                        <a:t>Lacks adaptive learning and fails in preserving texture under complex lighting</a:t>
                      </a:r>
                    </a:p>
                  </a:txBody>
                  <a:tcPr anchor="ctr"/>
                </a:tc>
                <a:extLst>
                  <a:ext uri="{0D108BD9-81ED-4DB2-BD59-A6C34878D82A}">
                    <a16:rowId xmlns:a16="http://schemas.microsoft.com/office/drawing/2014/main" val="10001"/>
                  </a:ext>
                </a:extLst>
              </a:tr>
              <a:tr h="1375410">
                <a:tc>
                  <a:txBody>
                    <a:bodyPr/>
                    <a:lstStyle/>
                    <a:p>
                      <a:r>
                        <a:rPr lang="en-US" dirty="0"/>
                        <a:t>2</a:t>
                      </a:r>
                    </a:p>
                  </a:txBody>
                  <a:tcPr anchor="ctr"/>
                </a:tc>
                <a:tc>
                  <a:txBody>
                    <a:bodyPr/>
                    <a:lstStyle/>
                    <a:p>
                      <a:r>
                        <a:rPr lang="en-US" i="1" dirty="0"/>
                        <a:t>Single-Stage Unsupervised </a:t>
                      </a:r>
                      <a:r>
                        <a:rPr lang="en-US" i="1" dirty="0" err="1"/>
                        <a:t>Denoising</a:t>
                      </a:r>
                      <a:r>
                        <a:rPr lang="en-US" i="1" dirty="0"/>
                        <a:t> Low-Illumination Enhancement using </a:t>
                      </a:r>
                      <a:r>
                        <a:rPr lang="en-US" i="1" dirty="0" err="1"/>
                        <a:t>Swin</a:t>
                      </a:r>
                      <a:r>
                        <a:rPr lang="en-US" i="1" dirty="0"/>
                        <a:t> Transformer</a:t>
                      </a:r>
                      <a:r>
                        <a:rPr lang="en-US" dirty="0"/>
                        <a:t> (2023) </a:t>
                      </a:r>
                    </a:p>
                  </a:txBody>
                  <a:tcPr anchor="ctr"/>
                </a:tc>
                <a:tc>
                  <a:txBody>
                    <a:bodyPr/>
                    <a:lstStyle/>
                    <a:p>
                      <a:r>
                        <a:rPr lang="en-US"/>
                        <a:t>Swin Transformer-based unsupervised model for enhancement and denoising without paired training data</a:t>
                      </a:r>
                    </a:p>
                  </a:txBody>
                  <a:tcPr anchor="ctr"/>
                </a:tc>
                <a:tc>
                  <a:txBody>
                    <a:bodyPr/>
                    <a:lstStyle/>
                    <a:p>
                      <a:r>
                        <a:rPr lang="en-US" dirty="0"/>
                        <a:t>High computational cost, limiting real-time edge deployment</a:t>
                      </a:r>
                    </a:p>
                  </a:txBody>
                  <a:tcPr anchor="ctr"/>
                </a:tc>
                <a:extLst>
                  <a:ext uri="{0D108BD9-81ED-4DB2-BD59-A6C34878D82A}">
                    <a16:rowId xmlns:a16="http://schemas.microsoft.com/office/drawing/2014/main" val="10002"/>
                  </a:ext>
                </a:extLst>
              </a:tr>
              <a:tr h="941070">
                <a:tc>
                  <a:txBody>
                    <a:bodyPr/>
                    <a:lstStyle/>
                    <a:p>
                      <a:r>
                        <a:rPr lang="en-US"/>
                        <a:t>3</a:t>
                      </a:r>
                    </a:p>
                  </a:txBody>
                  <a:tcPr anchor="ctr"/>
                </a:tc>
                <a:tc>
                  <a:txBody>
                    <a:bodyPr/>
                    <a:lstStyle/>
                    <a:p>
                      <a:r>
                        <a:rPr lang="en-US" i="1" dirty="0"/>
                        <a:t>Cross-Image Disentanglement for Low-Light Enhancement in Real World</a:t>
                      </a:r>
                      <a:r>
                        <a:rPr lang="en-US" dirty="0"/>
                        <a:t> (2022)</a:t>
                      </a:r>
                    </a:p>
                  </a:txBody>
                  <a:tcPr anchor="ctr"/>
                </a:tc>
                <a:tc>
                  <a:txBody>
                    <a:bodyPr/>
                    <a:lstStyle/>
                    <a:p>
                      <a:r>
                        <a:rPr lang="en-US"/>
                        <a:t>Disentangling illumination and content features via unpaired learning</a:t>
                      </a:r>
                    </a:p>
                  </a:txBody>
                  <a:tcPr anchor="ctr"/>
                </a:tc>
                <a:tc>
                  <a:txBody>
                    <a:bodyPr/>
                    <a:lstStyle/>
                    <a:p>
                      <a:r>
                        <a:rPr lang="en-US" dirty="0"/>
                        <a:t>Requires complex training and fine-tuning for effective generalization</a:t>
                      </a:r>
                    </a:p>
                  </a:txBody>
                  <a:tcPr anchor="ctr"/>
                </a:tc>
                <a:extLst>
                  <a:ext uri="{0D108BD9-81ED-4DB2-BD59-A6C34878D82A}">
                    <a16:rowId xmlns:a16="http://schemas.microsoft.com/office/drawing/2014/main" val="10003"/>
                  </a:ext>
                </a:extLst>
              </a:tr>
              <a:tr h="1158240">
                <a:tc>
                  <a:txBody>
                    <a:bodyPr/>
                    <a:lstStyle/>
                    <a:p>
                      <a:r>
                        <a:rPr lang="en-US" dirty="0"/>
                        <a:t>4</a:t>
                      </a:r>
                    </a:p>
                  </a:txBody>
                  <a:tcPr anchor="ctr"/>
                </a:tc>
                <a:tc>
                  <a:txBody>
                    <a:bodyPr/>
                    <a:lstStyle/>
                    <a:p>
                      <a:r>
                        <a:rPr lang="en-US" i="1" dirty="0"/>
                        <a:t>DEDU: Dual-Enhancing Dense-</a:t>
                      </a:r>
                      <a:r>
                        <a:rPr lang="en-US" i="1" dirty="0" err="1"/>
                        <a:t>UNet</a:t>
                      </a:r>
                      <a:r>
                        <a:rPr lang="en-US" i="1" dirty="0"/>
                        <a:t> for Lowlight Image Enhancement and </a:t>
                      </a:r>
                      <a:r>
                        <a:rPr lang="en-US" i="1" dirty="0" err="1"/>
                        <a:t>Denoise</a:t>
                      </a:r>
                      <a:r>
                        <a:rPr lang="en-US" dirty="0"/>
                        <a:t> (2024) </a:t>
                      </a:r>
                    </a:p>
                  </a:txBody>
                  <a:tcPr anchor="ctr"/>
                </a:tc>
                <a:tc>
                  <a:txBody>
                    <a:bodyPr/>
                    <a:lstStyle/>
                    <a:p>
                      <a:r>
                        <a:rPr lang="en-US"/>
                        <a:t>Dual-pathway Dense UNet separating structure and detail features for robust enhancement</a:t>
                      </a:r>
                    </a:p>
                  </a:txBody>
                  <a:tcPr anchor="ctr"/>
                </a:tc>
                <a:tc>
                  <a:txBody>
                    <a:bodyPr/>
                    <a:lstStyle/>
                    <a:p>
                      <a:r>
                        <a:rPr lang="en-US" dirty="0"/>
                        <a:t>Higher model complexity and increased training time</a:t>
                      </a:r>
                    </a:p>
                  </a:txBody>
                  <a:tcPr anchor="ctr"/>
                </a:tc>
                <a:extLst>
                  <a:ext uri="{0D108BD9-81ED-4DB2-BD59-A6C34878D82A}">
                    <a16:rowId xmlns:a16="http://schemas.microsoft.com/office/drawing/2014/main" val="10004"/>
                  </a:ext>
                </a:extLst>
              </a:tr>
            </a:tbl>
          </a:graphicData>
        </a:graphic>
      </p:graphicFrame>
      <p:sp>
        <p:nvSpPr>
          <p:cNvPr id="3" name="TextBox 2"/>
          <p:cNvSpPr txBox="1"/>
          <p:nvPr/>
        </p:nvSpPr>
        <p:spPr>
          <a:xfrm>
            <a:off x="2133600" y="228600"/>
            <a:ext cx="4572000" cy="461665"/>
          </a:xfrm>
          <a:prstGeom prst="rect">
            <a:avLst/>
          </a:prstGeom>
          <a:noFill/>
        </p:spPr>
        <p:txBody>
          <a:bodyPr wrap="square" rtlCol="0">
            <a:spAutoFit/>
          </a:bodyPr>
          <a:lstStyle/>
          <a:p>
            <a:r>
              <a:rPr lang="en-US" sz="2400" b="1" dirty="0"/>
              <a:t>Literature Survey</a:t>
            </a:r>
          </a:p>
        </p:txBody>
      </p:sp>
    </p:spTree>
    <p:extLst>
      <p:ext uri="{BB962C8B-B14F-4D97-AF65-F5344CB8AC3E}">
        <p14:creationId xmlns:p14="http://schemas.microsoft.com/office/powerpoint/2010/main" val="1191146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p:cNvGraphicFramePr>
            <a:graphicFrameLocks noGrp="1"/>
          </p:cNvGraphicFramePr>
          <p:nvPr>
            <p:extLst>
              <p:ext uri="{D42A27DB-BD31-4B8C-83A1-F6EECF244321}">
                <p14:modId xmlns:p14="http://schemas.microsoft.com/office/powerpoint/2010/main" val="2742165100"/>
              </p:ext>
            </p:extLst>
          </p:nvPr>
        </p:nvGraphicFramePr>
        <p:xfrm>
          <a:off x="152400" y="838200"/>
          <a:ext cx="10668000" cy="5791201"/>
        </p:xfrm>
        <a:graphic>
          <a:graphicData uri="http://schemas.openxmlformats.org/drawingml/2006/table">
            <a:tbl>
              <a:tblPr firstRow="1" bandRow="1">
                <a:tableStyleId>{5C22544A-7EE6-4342-B048-85BDC9FD1C3A}</a:tableStyleId>
              </a:tblPr>
              <a:tblGrid>
                <a:gridCol w="938786">
                  <a:extLst>
                    <a:ext uri="{9D8B030D-6E8A-4147-A177-3AD203B41FA5}">
                      <a16:colId xmlns:a16="http://schemas.microsoft.com/office/drawing/2014/main" val="20000"/>
                    </a:ext>
                  </a:extLst>
                </a:gridCol>
                <a:gridCol w="3978496">
                  <a:extLst>
                    <a:ext uri="{9D8B030D-6E8A-4147-A177-3AD203B41FA5}">
                      <a16:colId xmlns:a16="http://schemas.microsoft.com/office/drawing/2014/main" val="20001"/>
                    </a:ext>
                  </a:extLst>
                </a:gridCol>
                <a:gridCol w="3083718">
                  <a:extLst>
                    <a:ext uri="{9D8B030D-6E8A-4147-A177-3AD203B41FA5}">
                      <a16:colId xmlns:a16="http://schemas.microsoft.com/office/drawing/2014/main" val="20002"/>
                    </a:ext>
                  </a:extLst>
                </a:gridCol>
                <a:gridCol w="2667000">
                  <a:extLst>
                    <a:ext uri="{9D8B030D-6E8A-4147-A177-3AD203B41FA5}">
                      <a16:colId xmlns:a16="http://schemas.microsoft.com/office/drawing/2014/main" val="20003"/>
                    </a:ext>
                  </a:extLst>
                </a:gridCol>
              </a:tblGrid>
              <a:tr h="373626">
                <a:tc>
                  <a:txBody>
                    <a:bodyPr/>
                    <a:lstStyle/>
                    <a:p>
                      <a:r>
                        <a:rPr lang="en-US" dirty="0"/>
                        <a:t>Sl. No.</a:t>
                      </a:r>
                    </a:p>
                  </a:txBody>
                  <a:tcPr anchor="ctr"/>
                </a:tc>
                <a:tc>
                  <a:txBody>
                    <a:bodyPr/>
                    <a:lstStyle/>
                    <a:p>
                      <a:r>
                        <a:rPr lang="en-US"/>
                        <a:t>Title &amp; Year of Publication</a:t>
                      </a:r>
                    </a:p>
                  </a:txBody>
                  <a:tcPr anchor="ctr"/>
                </a:tc>
                <a:tc>
                  <a:txBody>
                    <a:bodyPr/>
                    <a:lstStyle/>
                    <a:p>
                      <a:r>
                        <a:rPr lang="en-US"/>
                        <a:t>Methodology Used</a:t>
                      </a:r>
                    </a:p>
                  </a:txBody>
                  <a:tcPr anchor="ctr"/>
                </a:tc>
                <a:tc>
                  <a:txBody>
                    <a:bodyPr/>
                    <a:lstStyle/>
                    <a:p>
                      <a:r>
                        <a:rPr lang="en-US"/>
                        <a:t>Limitations</a:t>
                      </a:r>
                    </a:p>
                  </a:txBody>
                  <a:tcPr anchor="ctr"/>
                </a:tc>
                <a:extLst>
                  <a:ext uri="{0D108BD9-81ED-4DB2-BD59-A6C34878D82A}">
                    <a16:rowId xmlns:a16="http://schemas.microsoft.com/office/drawing/2014/main" val="10000"/>
                  </a:ext>
                </a:extLst>
              </a:tr>
              <a:tr h="1214284">
                <a:tc>
                  <a:txBody>
                    <a:bodyPr/>
                    <a:lstStyle/>
                    <a:p>
                      <a:r>
                        <a:rPr lang="en-US"/>
                        <a:t>5</a:t>
                      </a:r>
                    </a:p>
                  </a:txBody>
                  <a:tcPr anchor="ctr"/>
                </a:tc>
                <a:tc>
                  <a:txBody>
                    <a:bodyPr/>
                    <a:lstStyle/>
                    <a:p>
                      <a:r>
                        <a:rPr lang="en-US" i="1" dirty="0" err="1"/>
                        <a:t>DLDiff</a:t>
                      </a:r>
                      <a:r>
                        <a:rPr lang="en-US" i="1" dirty="0"/>
                        <a:t>: Image Detail-Guided Latent Diffusion Model for Low-Light Image Enhancement</a:t>
                      </a:r>
                      <a:r>
                        <a:rPr lang="en-US" dirty="0"/>
                        <a:t> (2023) </a:t>
                      </a:r>
                    </a:p>
                  </a:txBody>
                  <a:tcPr anchor="ctr"/>
                </a:tc>
                <a:tc>
                  <a:txBody>
                    <a:bodyPr/>
                    <a:lstStyle/>
                    <a:p>
                      <a:r>
                        <a:rPr lang="en-US"/>
                        <a:t>Uses latent diffusion guided by image details to enhance low-light images progressively</a:t>
                      </a:r>
                    </a:p>
                  </a:txBody>
                  <a:tcPr anchor="ctr"/>
                </a:tc>
                <a:tc>
                  <a:txBody>
                    <a:bodyPr/>
                    <a:lstStyle/>
                    <a:p>
                      <a:r>
                        <a:rPr lang="en-US" dirty="0"/>
                        <a:t>Computationally expensive; slower inference makes it less suitable for real-time use</a:t>
                      </a:r>
                    </a:p>
                  </a:txBody>
                  <a:tcPr anchor="ctr"/>
                </a:tc>
                <a:extLst>
                  <a:ext uri="{0D108BD9-81ED-4DB2-BD59-A6C34878D82A}">
                    <a16:rowId xmlns:a16="http://schemas.microsoft.com/office/drawing/2014/main" val="10001"/>
                  </a:ext>
                </a:extLst>
              </a:tr>
              <a:tr h="1214284">
                <a:tc>
                  <a:txBody>
                    <a:bodyPr/>
                    <a:lstStyle/>
                    <a:p>
                      <a:r>
                        <a:rPr lang="en-US" dirty="0"/>
                        <a:t>6</a:t>
                      </a:r>
                    </a:p>
                  </a:txBody>
                  <a:tcPr anchor="ctr"/>
                </a:tc>
                <a:tc>
                  <a:txBody>
                    <a:bodyPr/>
                    <a:lstStyle/>
                    <a:p>
                      <a:r>
                        <a:rPr lang="en-US" i="1" dirty="0"/>
                        <a:t>Ghost Imaging in the Dark: A Multi-Illumination Estimation Network for Low-Light Image Enhancement</a:t>
                      </a:r>
                      <a:r>
                        <a:rPr lang="en-US" dirty="0"/>
                        <a:t> (2023) </a:t>
                      </a:r>
                    </a:p>
                  </a:txBody>
                  <a:tcPr anchor="ctr"/>
                </a:tc>
                <a:tc>
                  <a:txBody>
                    <a:bodyPr/>
                    <a:lstStyle/>
                    <a:p>
                      <a:r>
                        <a:rPr lang="en-US"/>
                        <a:t>Employs ghost imaging principles and multiple illumination estimations to enhance scene visibility</a:t>
                      </a:r>
                    </a:p>
                  </a:txBody>
                  <a:tcPr anchor="ctr"/>
                </a:tc>
                <a:tc>
                  <a:txBody>
                    <a:bodyPr/>
                    <a:lstStyle/>
                    <a:p>
                      <a:r>
                        <a:rPr lang="en-US"/>
                        <a:t>May introduce latency and perform poorly in extremely low-light or noisy conditions</a:t>
                      </a:r>
                    </a:p>
                  </a:txBody>
                  <a:tcPr anchor="ctr"/>
                </a:tc>
                <a:extLst>
                  <a:ext uri="{0D108BD9-81ED-4DB2-BD59-A6C34878D82A}">
                    <a16:rowId xmlns:a16="http://schemas.microsoft.com/office/drawing/2014/main" val="10002"/>
                  </a:ext>
                </a:extLst>
              </a:tr>
              <a:tr h="1214284">
                <a:tc>
                  <a:txBody>
                    <a:bodyPr/>
                    <a:lstStyle/>
                    <a:p>
                      <a:r>
                        <a:rPr lang="en-US"/>
                        <a:t>7</a:t>
                      </a:r>
                    </a:p>
                  </a:txBody>
                  <a:tcPr anchor="ctr"/>
                </a:tc>
                <a:tc>
                  <a:txBody>
                    <a:bodyPr/>
                    <a:lstStyle/>
                    <a:p>
                      <a:r>
                        <a:rPr lang="en-US" i="1" dirty="0"/>
                        <a:t>Self-Supervision via Controlled Transformation and Unpaired Self-Conditioning for Low-Light Image Enhancement</a:t>
                      </a:r>
                      <a:r>
                        <a:rPr lang="en-US" dirty="0"/>
                        <a:t> (2023)</a:t>
                      </a:r>
                    </a:p>
                  </a:txBody>
                  <a:tcPr anchor="ctr"/>
                </a:tc>
                <a:tc>
                  <a:txBody>
                    <a:bodyPr/>
                    <a:lstStyle/>
                    <a:p>
                      <a:r>
                        <a:rPr lang="en-US"/>
                        <a:t>Trains the model without paired data using controlled transformations and self-conditioning</a:t>
                      </a:r>
                    </a:p>
                  </a:txBody>
                  <a:tcPr anchor="ctr"/>
                </a:tc>
                <a:tc>
                  <a:txBody>
                    <a:bodyPr/>
                    <a:lstStyle/>
                    <a:p>
                      <a:r>
                        <a:rPr lang="en-US"/>
                        <a:t>Might be less effective in highly diverse real-world settings without additional fine-tuning</a:t>
                      </a:r>
                    </a:p>
                  </a:txBody>
                  <a:tcPr anchor="ctr"/>
                </a:tc>
                <a:extLst>
                  <a:ext uri="{0D108BD9-81ED-4DB2-BD59-A6C34878D82A}">
                    <a16:rowId xmlns:a16="http://schemas.microsoft.com/office/drawing/2014/main" val="10003"/>
                  </a:ext>
                </a:extLst>
              </a:tr>
              <a:tr h="1774723">
                <a:tc>
                  <a:txBody>
                    <a:bodyPr/>
                    <a:lstStyle/>
                    <a:p>
                      <a:r>
                        <a:rPr lang="en-US"/>
                        <a:t>8</a:t>
                      </a:r>
                    </a:p>
                  </a:txBody>
                  <a:tcPr anchor="ctr"/>
                </a:tc>
                <a:tc>
                  <a:txBody>
                    <a:bodyPr/>
                    <a:lstStyle/>
                    <a:p>
                      <a:r>
                        <a:rPr lang="en-US" i="1" dirty="0"/>
                        <a:t>LRT: An Efficient Low-Light Restoration Transformer for Dark Light Field Images</a:t>
                      </a:r>
                      <a:r>
                        <a:rPr lang="en-US" dirty="0"/>
                        <a:t> (2023)</a:t>
                      </a:r>
                    </a:p>
                  </a:txBody>
                  <a:tcPr anchor="ctr"/>
                </a:tc>
                <a:tc>
                  <a:txBody>
                    <a:bodyPr/>
                    <a:lstStyle/>
                    <a:p>
                      <a:r>
                        <a:rPr lang="en-US"/>
                        <a:t>Applies Transformer-based restoration specifically for dark light field images using attention mechanisms</a:t>
                      </a:r>
                    </a:p>
                  </a:txBody>
                  <a:tcPr anchor="ctr"/>
                </a:tc>
                <a:tc>
                  <a:txBody>
                    <a:bodyPr/>
                    <a:lstStyle/>
                    <a:p>
                      <a:r>
                        <a:rPr lang="en-US" dirty="0"/>
                        <a:t>Demands high GPU memory and compute power, making it impractical for deployment on low-resource devices</a:t>
                      </a:r>
                    </a:p>
                  </a:txBody>
                  <a:tcPr anchor="ctr"/>
                </a:tc>
                <a:extLst>
                  <a:ext uri="{0D108BD9-81ED-4DB2-BD59-A6C34878D82A}">
                    <a16:rowId xmlns:a16="http://schemas.microsoft.com/office/drawing/2014/main" val="10004"/>
                  </a:ext>
                </a:extLst>
              </a:tr>
            </a:tbl>
          </a:graphicData>
        </a:graphic>
      </p:graphicFrame>
      <p:sp>
        <p:nvSpPr>
          <p:cNvPr id="9" name="TextBox 8"/>
          <p:cNvSpPr txBox="1"/>
          <p:nvPr/>
        </p:nvSpPr>
        <p:spPr>
          <a:xfrm>
            <a:off x="1676400" y="128885"/>
            <a:ext cx="4572000" cy="461665"/>
          </a:xfrm>
          <a:prstGeom prst="rect">
            <a:avLst/>
          </a:prstGeom>
          <a:noFill/>
        </p:spPr>
        <p:txBody>
          <a:bodyPr wrap="square" rtlCol="0">
            <a:spAutoFit/>
          </a:bodyPr>
          <a:lstStyle/>
          <a:p>
            <a:r>
              <a:rPr lang="en-US" sz="2400" b="1" dirty="0"/>
              <a:t>Literature Survey</a:t>
            </a:r>
          </a:p>
        </p:txBody>
      </p:sp>
    </p:spTree>
    <p:extLst>
      <p:ext uri="{BB962C8B-B14F-4D97-AF65-F5344CB8AC3E}">
        <p14:creationId xmlns:p14="http://schemas.microsoft.com/office/powerpoint/2010/main" val="2545613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45" dirty="0"/>
              <a:t> </a:t>
            </a:r>
            <a:r>
              <a:rPr dirty="0"/>
              <a:t>of CSE,</a:t>
            </a:r>
            <a:r>
              <a:rPr spc="-15" dirty="0"/>
              <a:t> </a:t>
            </a:r>
            <a:r>
              <a:rPr spc="-10" dirty="0"/>
              <a:t>SJCIT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375"/>
              </a:lnSpc>
            </a:pPr>
            <a:fld id="{81D60167-4931-47E6-BA6A-407CBD079E47}" type="slidenum">
              <a:rPr spc="-25" dirty="0"/>
              <a:t>8</a:t>
            </a:fld>
            <a:endParaRPr spc="-25" dirty="0"/>
          </a:p>
        </p:txBody>
      </p:sp>
      <p:sp>
        <p:nvSpPr>
          <p:cNvPr id="7" name="Title 6">
            <a:extLst>
              <a:ext uri="{FF2B5EF4-FFF2-40B4-BE49-F238E27FC236}">
                <a16:creationId xmlns:a16="http://schemas.microsoft.com/office/drawing/2014/main" id="{962B46D2-0484-6639-A0A7-4EE851A225B2}"/>
              </a:ext>
            </a:extLst>
          </p:cNvPr>
          <p:cNvSpPr>
            <a:spLocks noGrp="1"/>
          </p:cNvSpPr>
          <p:nvPr>
            <p:ph type="title"/>
          </p:nvPr>
        </p:nvSpPr>
        <p:spPr>
          <a:xfrm>
            <a:off x="1775713" y="316814"/>
            <a:ext cx="8640572" cy="861774"/>
          </a:xfrm>
        </p:spPr>
        <p:txBody>
          <a:bodyPr/>
          <a:lstStyle/>
          <a:p>
            <a:pPr algn="l"/>
            <a:r>
              <a:rPr lang="en-IN" dirty="0"/>
              <a:t>        SRS (System Requirements Specification)</a:t>
            </a:r>
            <a:br>
              <a:rPr lang="en-IN" dirty="0"/>
            </a:br>
            <a:endParaRPr lang="en-IN" dirty="0"/>
          </a:p>
        </p:txBody>
      </p:sp>
      <p:sp>
        <p:nvSpPr>
          <p:cNvPr id="9" name="TextBox 8">
            <a:extLst>
              <a:ext uri="{FF2B5EF4-FFF2-40B4-BE49-F238E27FC236}">
                <a16:creationId xmlns:a16="http://schemas.microsoft.com/office/drawing/2014/main" id="{06D771AA-AF57-0868-5543-32360FD2AF90}"/>
              </a:ext>
            </a:extLst>
          </p:cNvPr>
          <p:cNvSpPr txBox="1"/>
          <p:nvPr/>
        </p:nvSpPr>
        <p:spPr>
          <a:xfrm>
            <a:off x="838200" y="939140"/>
            <a:ext cx="8991600" cy="5392310"/>
          </a:xfrm>
          <a:prstGeom prst="rect">
            <a:avLst/>
          </a:prstGeom>
          <a:noFill/>
        </p:spPr>
        <p:txBody>
          <a:bodyPr wrap="square">
            <a:spAutoFit/>
          </a:bodyPr>
          <a:lstStyle/>
          <a:p>
            <a:pPr algn="just">
              <a:buNone/>
            </a:pPr>
            <a:r>
              <a:rPr lang="en-IN" b="1" dirty="0"/>
              <a:t>Functional Requirements:</a:t>
            </a:r>
            <a:endParaRPr lang="en-IN" dirty="0"/>
          </a:p>
          <a:p>
            <a:pPr algn="just">
              <a:lnSpc>
                <a:spcPct val="150000"/>
              </a:lnSpc>
              <a:buFont typeface="Arial" panose="020B0604020202020204" pitchFamily="34" charset="0"/>
              <a:buChar char="•"/>
            </a:pPr>
            <a:r>
              <a:rPr lang="en-IN" sz="1600" dirty="0"/>
              <a:t>Upload image and apply enhancement (</a:t>
            </a:r>
            <a:r>
              <a:rPr lang="en-IN" sz="1600" dirty="0" err="1"/>
              <a:t>DEDUNet</a:t>
            </a:r>
            <a:r>
              <a:rPr lang="en-IN" sz="1600" dirty="0"/>
              <a:t> + traditional).</a:t>
            </a:r>
          </a:p>
          <a:p>
            <a:pPr algn="just">
              <a:lnSpc>
                <a:spcPct val="150000"/>
              </a:lnSpc>
              <a:buFont typeface="Arial" panose="020B0604020202020204" pitchFamily="34" charset="0"/>
              <a:buChar char="•"/>
            </a:pPr>
            <a:r>
              <a:rPr lang="en-IN" sz="1600" dirty="0"/>
              <a:t>Provide </a:t>
            </a:r>
            <a:r>
              <a:rPr lang="en-IN" sz="1600" dirty="0" err="1"/>
              <a:t>color</a:t>
            </a:r>
            <a:r>
              <a:rPr lang="en-IN" sz="1600" dirty="0"/>
              <a:t> controls (brightness, contrast, saturation, hue, temperature,    shadows/highlights).</a:t>
            </a:r>
          </a:p>
          <a:p>
            <a:pPr algn="just">
              <a:lnSpc>
                <a:spcPct val="150000"/>
              </a:lnSpc>
              <a:buFont typeface="Arial" panose="020B0604020202020204" pitchFamily="34" charset="0"/>
              <a:buChar char="•"/>
            </a:pPr>
            <a:r>
              <a:rPr lang="en-IN" sz="1600" dirty="0"/>
              <a:t>Show real-time quality metrics (PSNR, SSIM, enhancement score, processing time).</a:t>
            </a:r>
          </a:p>
          <a:p>
            <a:pPr algn="just">
              <a:lnSpc>
                <a:spcPct val="150000"/>
              </a:lnSpc>
              <a:buFont typeface="Arial" panose="020B0604020202020204" pitchFamily="34" charset="0"/>
              <a:buChar char="•"/>
            </a:pPr>
            <a:r>
              <a:rPr lang="en-IN" sz="1600" dirty="0"/>
              <a:t>Collect user ratings via 5-star feedback</a:t>
            </a:r>
            <a:r>
              <a:rPr lang="en-IN" dirty="0"/>
              <a:t>.</a:t>
            </a:r>
          </a:p>
          <a:p>
            <a:pPr algn="just">
              <a:buNone/>
            </a:pPr>
            <a:endParaRPr lang="en-IN" b="1" dirty="0"/>
          </a:p>
          <a:p>
            <a:pPr algn="just">
              <a:buNone/>
            </a:pPr>
            <a:r>
              <a:rPr lang="en-IN" b="1" dirty="0"/>
              <a:t>Non-Functional Requirements:</a:t>
            </a:r>
            <a:endParaRPr lang="en-IN" dirty="0"/>
          </a:p>
          <a:p>
            <a:pPr algn="just">
              <a:lnSpc>
                <a:spcPct val="150000"/>
              </a:lnSpc>
              <a:buFont typeface="Arial" panose="020B0604020202020204" pitchFamily="34" charset="0"/>
              <a:buChar char="•"/>
            </a:pPr>
            <a:r>
              <a:rPr lang="en-IN" sz="1600" dirty="0"/>
              <a:t>Performance: &lt;1s processing per image.</a:t>
            </a:r>
          </a:p>
          <a:p>
            <a:pPr algn="just">
              <a:lnSpc>
                <a:spcPct val="150000"/>
              </a:lnSpc>
              <a:buFont typeface="Arial" panose="020B0604020202020204" pitchFamily="34" charset="0"/>
              <a:buChar char="•"/>
            </a:pPr>
            <a:r>
              <a:rPr lang="en-IN" sz="1600" dirty="0"/>
              <a:t>Usability: Web-based interface with sliders and previews.</a:t>
            </a:r>
          </a:p>
          <a:p>
            <a:pPr algn="just">
              <a:buFont typeface="Arial" panose="020B0604020202020204" pitchFamily="34" charset="0"/>
              <a:buChar char="•"/>
            </a:pPr>
            <a:r>
              <a:rPr lang="en-IN" sz="1600" dirty="0"/>
              <a:t>Compatibility: Supports multiple image formats (PNG, JPG, BMP, TIFF).</a:t>
            </a:r>
          </a:p>
          <a:p>
            <a:pPr algn="just">
              <a:buNone/>
            </a:pPr>
            <a:endParaRPr lang="en-IN" sz="2000" b="1" dirty="0"/>
          </a:p>
          <a:p>
            <a:pPr algn="just">
              <a:buNone/>
            </a:pPr>
            <a:r>
              <a:rPr lang="en-IN" b="1" dirty="0"/>
              <a:t>Software Requirements:</a:t>
            </a:r>
            <a:endParaRPr lang="en-IN" dirty="0"/>
          </a:p>
          <a:p>
            <a:pPr algn="just">
              <a:buFont typeface="Arial" panose="020B0604020202020204" pitchFamily="34" charset="0"/>
              <a:buChar char="•"/>
            </a:pPr>
            <a:r>
              <a:rPr lang="en-IN" sz="1600" dirty="0"/>
              <a:t>Python, </a:t>
            </a:r>
            <a:r>
              <a:rPr lang="en-IN" sz="1600" dirty="0" err="1"/>
              <a:t>PyTorch</a:t>
            </a:r>
            <a:r>
              <a:rPr lang="en-IN" sz="1600" dirty="0"/>
              <a:t>, OpenCV, Flask, NumPy, PIL, </a:t>
            </a:r>
            <a:r>
              <a:rPr lang="en-IN" sz="1600" dirty="0" err="1"/>
              <a:t>skimage</a:t>
            </a:r>
            <a:r>
              <a:rPr lang="en-IN" sz="1600" dirty="0"/>
              <a:t>.</a:t>
            </a:r>
          </a:p>
          <a:p>
            <a:pPr algn="just">
              <a:buNone/>
            </a:pPr>
            <a:endParaRPr lang="en-IN" sz="1600" b="1" dirty="0"/>
          </a:p>
          <a:p>
            <a:pPr algn="just">
              <a:buNone/>
            </a:pPr>
            <a:r>
              <a:rPr lang="en-IN" b="1" dirty="0"/>
              <a:t>Hardware Requirements:</a:t>
            </a:r>
            <a:endParaRPr lang="en-IN" dirty="0"/>
          </a:p>
          <a:p>
            <a:pPr algn="just">
              <a:lnSpc>
                <a:spcPct val="150000"/>
              </a:lnSpc>
              <a:buFont typeface="Arial" panose="020B0604020202020204" pitchFamily="34" charset="0"/>
              <a:buChar char="•"/>
            </a:pPr>
            <a:r>
              <a:rPr lang="en-IN" sz="1400" dirty="0"/>
              <a:t>Dell laptop with NVIDIA GeForce GTX 1650 GPU (4GB VRAM) and on Google </a:t>
            </a:r>
            <a:r>
              <a:rPr lang="en-IN" sz="1400" dirty="0" err="1"/>
              <a:t>Colab</a:t>
            </a:r>
            <a:r>
              <a:rPr lang="en-IN" sz="1400" dirty="0"/>
              <a:t> with Tesla T4 GPU</a:t>
            </a:r>
          </a:p>
          <a:p>
            <a:pPr algn="just">
              <a:lnSpc>
                <a:spcPct val="150000"/>
              </a:lnSpc>
              <a:buFont typeface="Arial" panose="020B0604020202020204" pitchFamily="34" charset="0"/>
              <a:buChar char="•"/>
            </a:pPr>
            <a:r>
              <a:rPr lang="en-IN" sz="1400" dirty="0"/>
              <a:t>Minimum 8GB RAM, 2.5 GHz CPU.</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241716"/>
            <a:ext cx="8305799" cy="505908"/>
          </a:xfrm>
          <a:prstGeom prst="rect">
            <a:avLst/>
          </a:prstGeom>
        </p:spPr>
        <p:txBody>
          <a:bodyPr vert="horz" wrap="square" lIns="0" tIns="13335" rIns="0" bIns="0" rtlCol="0">
            <a:spAutoFit/>
          </a:bodyPr>
          <a:lstStyle/>
          <a:p>
            <a:pPr marL="12700" algn="just">
              <a:spcBef>
                <a:spcPts val="105"/>
              </a:spcBef>
            </a:pPr>
            <a:r>
              <a:rPr lang="en-IN" sz="3200" dirty="0"/>
              <a:t>		Architecture / System Design</a:t>
            </a:r>
            <a:endParaRPr sz="3200"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45" dirty="0"/>
              <a:t> </a:t>
            </a:r>
            <a:r>
              <a:rPr dirty="0"/>
              <a:t>of CSE,</a:t>
            </a:r>
            <a:r>
              <a:rPr spc="-15" dirty="0"/>
              <a:t> </a:t>
            </a:r>
            <a:r>
              <a:rPr spc="-10" dirty="0"/>
              <a:t>SJCIT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375"/>
              </a:lnSpc>
            </a:pPr>
            <a:fld id="{81D60167-4931-47E6-BA6A-407CBD079E47}" type="slidenum">
              <a:rPr spc="-25" dirty="0"/>
              <a:t>9</a:t>
            </a:fld>
            <a:endParaRPr spc="-25" dirty="0"/>
          </a:p>
        </p:txBody>
      </p:sp>
      <p:sp>
        <p:nvSpPr>
          <p:cNvPr id="11" name="TextBox 10">
            <a:extLst>
              <a:ext uri="{FF2B5EF4-FFF2-40B4-BE49-F238E27FC236}">
                <a16:creationId xmlns:a16="http://schemas.microsoft.com/office/drawing/2014/main" id="{058D5D2C-3F8C-4116-3AA2-1417D2279BB9}"/>
              </a:ext>
            </a:extLst>
          </p:cNvPr>
          <p:cNvSpPr txBox="1"/>
          <p:nvPr/>
        </p:nvSpPr>
        <p:spPr>
          <a:xfrm>
            <a:off x="457200" y="745166"/>
            <a:ext cx="10439400" cy="5719514"/>
          </a:xfrm>
          <a:prstGeom prst="rect">
            <a:avLst/>
          </a:prstGeom>
          <a:noFill/>
        </p:spPr>
        <p:txBody>
          <a:bodyPr wrap="square">
            <a:spAutoFit/>
          </a:bodyPr>
          <a:lstStyle/>
          <a:p>
            <a:pPr>
              <a:lnSpc>
                <a:spcPct val="150000"/>
              </a:lnSpc>
              <a:buNone/>
            </a:pPr>
            <a:r>
              <a:rPr lang="en-IN" sz="1600" b="1" dirty="0"/>
              <a:t>High-Level Design:</a:t>
            </a:r>
            <a:endParaRPr lang="en-IN" sz="1600" dirty="0"/>
          </a:p>
          <a:p>
            <a:pPr>
              <a:lnSpc>
                <a:spcPct val="150000"/>
              </a:lnSpc>
              <a:buFont typeface="+mj-lt"/>
              <a:buAutoNum type="arabicPeriod"/>
            </a:pPr>
            <a:r>
              <a:rPr lang="en-IN" sz="1400" dirty="0"/>
              <a:t>Input Module → Upload image.</a:t>
            </a:r>
          </a:p>
          <a:p>
            <a:pPr>
              <a:lnSpc>
                <a:spcPct val="150000"/>
              </a:lnSpc>
              <a:buFont typeface="+mj-lt"/>
              <a:buAutoNum type="arabicPeriod"/>
            </a:pPr>
            <a:r>
              <a:rPr lang="en-IN" sz="1400" dirty="0"/>
              <a:t>Processing Module:</a:t>
            </a:r>
          </a:p>
          <a:p>
            <a:pPr marL="857250" lvl="1" indent="-400050">
              <a:lnSpc>
                <a:spcPct val="150000"/>
              </a:lnSpc>
              <a:buFont typeface="+mj-lt"/>
              <a:buAutoNum type="romanLcPeriod"/>
            </a:pPr>
            <a:r>
              <a:rPr lang="en-IN" sz="1400" dirty="0"/>
              <a:t>Traditional enhancement (CLAHE, Gamma, Selective Enhancement).</a:t>
            </a:r>
          </a:p>
          <a:p>
            <a:pPr marL="857250" lvl="1" indent="-400050">
              <a:lnSpc>
                <a:spcPct val="150000"/>
              </a:lnSpc>
              <a:buFont typeface="+mj-lt"/>
              <a:buAutoNum type="romanLcPeriod"/>
            </a:pPr>
            <a:r>
              <a:rPr lang="en-IN" sz="1400" dirty="0" err="1"/>
              <a:t>DEDUNet</a:t>
            </a:r>
            <a:r>
              <a:rPr lang="en-IN" sz="1400" dirty="0"/>
              <a:t> deep learning model for low-light enhancement.</a:t>
            </a:r>
          </a:p>
          <a:p>
            <a:pPr marL="857250" lvl="1" indent="-400050">
              <a:lnSpc>
                <a:spcPct val="150000"/>
              </a:lnSpc>
              <a:buFont typeface="+mj-lt"/>
              <a:buAutoNum type="romanLcPeriod"/>
            </a:pPr>
            <a:r>
              <a:rPr lang="en-IN" sz="1400" dirty="0"/>
              <a:t>Post-processing (denoising, sharpening, </a:t>
            </a:r>
            <a:r>
              <a:rPr lang="en-IN" sz="1400" dirty="0" err="1"/>
              <a:t>color</a:t>
            </a:r>
            <a:r>
              <a:rPr lang="en-IN" sz="1400" dirty="0"/>
              <a:t> grading).</a:t>
            </a:r>
          </a:p>
          <a:p>
            <a:pPr>
              <a:lnSpc>
                <a:spcPct val="150000"/>
              </a:lnSpc>
              <a:buFont typeface="+mj-lt"/>
              <a:buAutoNum type="arabicPeriod"/>
            </a:pPr>
            <a:r>
              <a:rPr lang="en-IN" sz="1400" dirty="0"/>
              <a:t>Quality Evaluation Module → PSNR, SSIM, enhancement score.</a:t>
            </a:r>
          </a:p>
          <a:p>
            <a:pPr>
              <a:lnSpc>
                <a:spcPct val="150000"/>
              </a:lnSpc>
              <a:buFont typeface="+mj-lt"/>
              <a:buAutoNum type="arabicPeriod"/>
            </a:pPr>
            <a:r>
              <a:rPr lang="en-IN" sz="1400" dirty="0"/>
              <a:t>User Interface (Web App) → Sliders, filters, beauty enhancement, star rating.</a:t>
            </a:r>
          </a:p>
          <a:p>
            <a:pPr>
              <a:lnSpc>
                <a:spcPct val="150000"/>
              </a:lnSpc>
              <a:buFont typeface="+mj-lt"/>
              <a:buAutoNum type="arabicPeriod"/>
            </a:pPr>
            <a:r>
              <a:rPr lang="en-IN" sz="1400" dirty="0"/>
              <a:t>Output Module → Enhanced image + metrics.</a:t>
            </a:r>
          </a:p>
          <a:p>
            <a:pPr>
              <a:lnSpc>
                <a:spcPct val="150000"/>
              </a:lnSpc>
              <a:buNone/>
            </a:pPr>
            <a:r>
              <a:rPr lang="en-IN" sz="1600" b="1" dirty="0"/>
              <a:t>Detailed Design:</a:t>
            </a:r>
            <a:endParaRPr lang="en-IN" sz="1600" dirty="0"/>
          </a:p>
          <a:p>
            <a:pPr marL="400050" indent="-400050">
              <a:lnSpc>
                <a:spcPct val="150000"/>
              </a:lnSpc>
              <a:buFont typeface="+mj-lt"/>
              <a:buAutoNum type="romanUcPeriod"/>
            </a:pPr>
            <a:r>
              <a:rPr lang="en-IN" sz="1400" b="1" dirty="0" err="1"/>
              <a:t>DEDUNet</a:t>
            </a:r>
            <a:r>
              <a:rPr lang="en-IN" sz="1400" dirty="0"/>
              <a:t>:</a:t>
            </a:r>
          </a:p>
          <a:p>
            <a:pPr marL="857250" lvl="1" indent="-400050">
              <a:lnSpc>
                <a:spcPct val="150000"/>
              </a:lnSpc>
              <a:buFont typeface="+mj-lt"/>
              <a:buAutoNum type="romanUcPeriod"/>
            </a:pPr>
            <a:r>
              <a:rPr lang="en-IN" sz="1400" dirty="0"/>
              <a:t>Encoder with Dense Blocks + CSP + DFC Attention.</a:t>
            </a:r>
          </a:p>
          <a:p>
            <a:pPr marL="857250" lvl="1" indent="-400050">
              <a:lnSpc>
                <a:spcPct val="150000"/>
              </a:lnSpc>
              <a:buFont typeface="+mj-lt"/>
              <a:buAutoNum type="romanUcPeriod"/>
            </a:pPr>
            <a:r>
              <a:rPr lang="en-IN" sz="1400" dirty="0"/>
              <a:t>Bottleneck with Dual Enhancement Block.</a:t>
            </a:r>
          </a:p>
          <a:p>
            <a:pPr marL="857250" lvl="1" indent="-400050">
              <a:lnSpc>
                <a:spcPct val="150000"/>
              </a:lnSpc>
              <a:buFont typeface="+mj-lt"/>
              <a:buAutoNum type="romanUcPeriod"/>
            </a:pPr>
            <a:r>
              <a:rPr lang="en-IN" sz="1400" dirty="0"/>
              <a:t>Decoder with skip connections + enhancement blocks.</a:t>
            </a:r>
          </a:p>
          <a:p>
            <a:pPr marL="400050" indent="-400050">
              <a:lnSpc>
                <a:spcPct val="150000"/>
              </a:lnSpc>
              <a:buFont typeface="+mj-lt"/>
              <a:buAutoNum type="romanUcPeriod"/>
            </a:pPr>
            <a:r>
              <a:rPr lang="en-IN" sz="1400" b="1" dirty="0"/>
              <a:t>Web App</a:t>
            </a:r>
            <a:r>
              <a:rPr lang="en-IN" sz="1400" dirty="0"/>
              <a:t>:</a:t>
            </a:r>
          </a:p>
          <a:p>
            <a:pPr marL="857250" lvl="1" indent="-400050">
              <a:lnSpc>
                <a:spcPct val="150000"/>
              </a:lnSpc>
              <a:buFont typeface="+mj-lt"/>
              <a:buAutoNum type="romanUcPeriod"/>
            </a:pPr>
            <a:r>
              <a:rPr lang="en-IN" sz="1400" dirty="0"/>
              <a:t>Flask backend with enhancement pipeline (</a:t>
            </a:r>
            <a:r>
              <a:rPr lang="en-IN" sz="1400" dirty="0">
                <a:latin typeface="Courier New" panose="02070309020205020404" pitchFamily="49" charset="0"/>
              </a:rPr>
              <a:t>web_app.py</a:t>
            </a:r>
            <a:r>
              <a:rPr lang="en-IN" sz="1400" dirty="0"/>
              <a:t>).</a:t>
            </a:r>
          </a:p>
          <a:p>
            <a:pPr marL="857250" lvl="1" indent="-400050">
              <a:lnSpc>
                <a:spcPct val="150000"/>
              </a:lnSpc>
              <a:buFont typeface="+mj-lt"/>
              <a:buAutoNum type="romanUcPeriod"/>
            </a:pPr>
            <a:r>
              <a:rPr lang="en-IN" sz="1400" dirty="0"/>
              <a:t>Frontend: HTML templates + real-time preview</a:t>
            </a:r>
            <a:r>
              <a:rPr lang="en-IN" dirty="0"/>
              <a:t>.</a:t>
            </a:r>
          </a:p>
        </p:txBody>
      </p:sp>
      <p:sp>
        <p:nvSpPr>
          <p:cNvPr id="6" name="Text 5">
            <a:extLst>
              <a:ext uri="{FF2B5EF4-FFF2-40B4-BE49-F238E27FC236}">
                <a16:creationId xmlns:a16="http://schemas.microsoft.com/office/drawing/2014/main" id="{B1F38E4D-9569-CAC5-36BC-478A3E81DD1E}"/>
              </a:ext>
            </a:extLst>
          </p:cNvPr>
          <p:cNvSpPr/>
          <p:nvPr/>
        </p:nvSpPr>
        <p:spPr>
          <a:xfrm>
            <a:off x="6553200" y="4038600"/>
            <a:ext cx="2279173" cy="284897"/>
          </a:xfrm>
          <a:prstGeom prst="rect">
            <a:avLst/>
          </a:prstGeom>
          <a:noFill/>
          <a:ln/>
        </p:spPr>
        <p:txBody>
          <a:bodyPr wrap="none" lIns="0" tIns="0" rIns="0" bIns="0" rtlCol="0" anchor="t"/>
          <a:lstStyle/>
          <a:p>
            <a:pPr marL="0" indent="0" algn="l">
              <a:lnSpc>
                <a:spcPts val="1650"/>
              </a:lnSpc>
              <a:buNone/>
            </a:pPr>
            <a:r>
              <a:rPr lang="en-US" sz="1600" dirty="0">
                <a:solidFill>
                  <a:srgbClr val="FFFFFF"/>
                </a:solidFill>
                <a:latin typeface="Kanit Light" pitchFamily="34" charset="0"/>
                <a:ea typeface="Kanit Light" pitchFamily="34" charset="-122"/>
                <a:cs typeface="Kanit Light" pitchFamily="34" charset="-120"/>
              </a:rPr>
              <a:t>Input Module</a:t>
            </a:r>
            <a:endParaRPr lang="en-US" sz="1600" dirty="0"/>
          </a:p>
        </p:txBody>
      </p:sp>
      <p:sp>
        <p:nvSpPr>
          <p:cNvPr id="7" name="Text 4">
            <a:extLst>
              <a:ext uri="{FF2B5EF4-FFF2-40B4-BE49-F238E27FC236}">
                <a16:creationId xmlns:a16="http://schemas.microsoft.com/office/drawing/2014/main" id="{9C52D496-F230-B4B8-FB56-CF1AB993F3D8}"/>
              </a:ext>
            </a:extLst>
          </p:cNvPr>
          <p:cNvSpPr/>
          <p:nvPr/>
        </p:nvSpPr>
        <p:spPr>
          <a:xfrm>
            <a:off x="6531980" y="4569058"/>
            <a:ext cx="2279173" cy="284897"/>
          </a:xfrm>
          <a:prstGeom prst="rect">
            <a:avLst/>
          </a:prstGeom>
          <a:noFill/>
          <a:ln/>
        </p:spPr>
        <p:txBody>
          <a:bodyPr wrap="none" lIns="0" tIns="0" rIns="0" bIns="0" rtlCol="0" anchor="t"/>
          <a:lstStyle/>
          <a:p>
            <a:pPr marL="0" indent="0" algn="l">
              <a:lnSpc>
                <a:spcPts val="1650"/>
              </a:lnSpc>
              <a:buNone/>
            </a:pPr>
            <a:r>
              <a:rPr lang="en-US" sz="1600" dirty="0">
                <a:solidFill>
                  <a:srgbClr val="FFFFFF"/>
                </a:solidFill>
                <a:latin typeface="Kanit Light" pitchFamily="34" charset="0"/>
                <a:ea typeface="Kanit Light" pitchFamily="34" charset="-122"/>
                <a:cs typeface="Kanit Light" pitchFamily="34" charset="-120"/>
              </a:rPr>
              <a:t>Processing Module</a:t>
            </a:r>
            <a:endParaRPr lang="en-US" sz="1600" dirty="0"/>
          </a:p>
        </p:txBody>
      </p:sp>
      <p:sp>
        <p:nvSpPr>
          <p:cNvPr id="8" name="Text 3">
            <a:extLst>
              <a:ext uri="{FF2B5EF4-FFF2-40B4-BE49-F238E27FC236}">
                <a16:creationId xmlns:a16="http://schemas.microsoft.com/office/drawing/2014/main" id="{FD977E0D-481B-E5AA-87F0-B051989115DD}"/>
              </a:ext>
            </a:extLst>
          </p:cNvPr>
          <p:cNvSpPr/>
          <p:nvPr/>
        </p:nvSpPr>
        <p:spPr>
          <a:xfrm>
            <a:off x="6553200" y="5075717"/>
            <a:ext cx="2279173" cy="284897"/>
          </a:xfrm>
          <a:prstGeom prst="rect">
            <a:avLst/>
          </a:prstGeom>
          <a:noFill/>
          <a:ln/>
        </p:spPr>
        <p:txBody>
          <a:bodyPr wrap="none" lIns="0" tIns="0" rIns="0" bIns="0" rtlCol="0" anchor="t"/>
          <a:lstStyle/>
          <a:p>
            <a:pPr marL="0" indent="0" algn="l">
              <a:lnSpc>
                <a:spcPts val="1650"/>
              </a:lnSpc>
              <a:buNone/>
            </a:pPr>
            <a:r>
              <a:rPr lang="en-US" sz="1600" dirty="0">
                <a:solidFill>
                  <a:srgbClr val="FFFFFF"/>
                </a:solidFill>
                <a:latin typeface="Kanit Light" pitchFamily="34" charset="0"/>
                <a:ea typeface="Kanit Light" pitchFamily="34" charset="-122"/>
                <a:cs typeface="Kanit Light" pitchFamily="34" charset="-120"/>
              </a:rPr>
              <a:t>Quality Evaluation</a:t>
            </a:r>
            <a:endParaRPr lang="en-US" sz="1600" dirty="0"/>
          </a:p>
        </p:txBody>
      </p:sp>
      <p:sp>
        <p:nvSpPr>
          <p:cNvPr id="9" name="Text 2">
            <a:extLst>
              <a:ext uri="{FF2B5EF4-FFF2-40B4-BE49-F238E27FC236}">
                <a16:creationId xmlns:a16="http://schemas.microsoft.com/office/drawing/2014/main" id="{A405B307-3DB4-4D8D-38EE-2874D3200C69}"/>
              </a:ext>
            </a:extLst>
          </p:cNvPr>
          <p:cNvSpPr/>
          <p:nvPr/>
        </p:nvSpPr>
        <p:spPr>
          <a:xfrm>
            <a:off x="6531979" y="5606176"/>
            <a:ext cx="2300394" cy="321768"/>
          </a:xfrm>
          <a:prstGeom prst="rect">
            <a:avLst/>
          </a:prstGeom>
          <a:noFill/>
          <a:ln/>
        </p:spPr>
        <p:txBody>
          <a:bodyPr wrap="none" lIns="0" tIns="0" rIns="0" bIns="0" rtlCol="0" anchor="t"/>
          <a:lstStyle/>
          <a:p>
            <a:pPr marL="0" indent="0" algn="l">
              <a:lnSpc>
                <a:spcPts val="1650"/>
              </a:lnSpc>
              <a:buNone/>
            </a:pPr>
            <a:r>
              <a:rPr lang="en-US" sz="1600" dirty="0">
                <a:solidFill>
                  <a:srgbClr val="FFFFFF"/>
                </a:solidFill>
                <a:latin typeface="Kanit Light" pitchFamily="34" charset="0"/>
                <a:ea typeface="Kanit Light" pitchFamily="34" charset="-122"/>
                <a:cs typeface="Kanit Light" pitchFamily="34" charset="-120"/>
              </a:rPr>
              <a:t>User Interface</a:t>
            </a:r>
            <a:endParaRPr lang="en-US" sz="1600" dirty="0"/>
          </a:p>
        </p:txBody>
      </p:sp>
      <p:pic>
        <p:nvPicPr>
          <p:cNvPr id="13" name="Picture 12" descr="A diagram of a process&#10;&#10;AI-generated content may be incorrect.">
            <a:extLst>
              <a:ext uri="{FF2B5EF4-FFF2-40B4-BE49-F238E27FC236}">
                <a16:creationId xmlns:a16="http://schemas.microsoft.com/office/drawing/2014/main" id="{B96E22D8-74AD-9A5E-63DA-92E2D964F9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5650" y="1185281"/>
            <a:ext cx="4906297" cy="4927553"/>
          </a:xfrm>
          <a:prstGeom prst="rect">
            <a:avLst/>
          </a:prstGeom>
        </p:spPr>
      </p:pic>
      <p:pic>
        <p:nvPicPr>
          <p:cNvPr id="15" name="Picture 14" descr="A white background with black dots&#10;&#10;AI-generated content may be incorrect.">
            <a:extLst>
              <a:ext uri="{FF2B5EF4-FFF2-40B4-BE49-F238E27FC236}">
                <a16:creationId xmlns:a16="http://schemas.microsoft.com/office/drawing/2014/main" id="{FF08A2DC-E7BC-0F2D-D2A8-19A8C11893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36929" y="1103416"/>
            <a:ext cx="3573597" cy="50590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1219200" y="2036549"/>
            <a:ext cx="9943748" cy="294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150000"/>
              </a:lnSpc>
            </a:pPr>
            <a:r>
              <a:rPr lang="en-IN" b="1" dirty="0"/>
              <a:t>Deep Learning:</a:t>
            </a:r>
            <a:r>
              <a:rPr lang="en-IN" dirty="0"/>
              <a:t> </a:t>
            </a:r>
            <a:r>
              <a:rPr lang="en-IN" dirty="0" err="1"/>
              <a:t>DEDUNet</a:t>
            </a:r>
            <a:r>
              <a:rPr lang="en-IN" dirty="0"/>
              <a:t> (brightness enhancement + noise reduction).</a:t>
            </a:r>
          </a:p>
          <a:p>
            <a:pPr>
              <a:lnSpc>
                <a:spcPct val="150000"/>
              </a:lnSpc>
            </a:pPr>
            <a:r>
              <a:rPr lang="en-IN" b="1" dirty="0"/>
              <a:t>Classical Enhancement:</a:t>
            </a:r>
            <a:r>
              <a:rPr lang="en-IN" dirty="0"/>
              <a:t> CLAHE, Gamma Correction, Histogram Equalization.</a:t>
            </a:r>
          </a:p>
          <a:p>
            <a:pPr>
              <a:lnSpc>
                <a:spcPct val="150000"/>
              </a:lnSpc>
            </a:pPr>
            <a:r>
              <a:rPr lang="en-IN" b="1" dirty="0"/>
              <a:t>Advanced Denoising:</a:t>
            </a:r>
            <a:r>
              <a:rPr lang="en-IN" dirty="0"/>
              <a:t> NLM, Bilateral, Gaussian, Median filters.</a:t>
            </a:r>
          </a:p>
          <a:p>
            <a:pPr>
              <a:lnSpc>
                <a:spcPct val="150000"/>
              </a:lnSpc>
            </a:pPr>
            <a:r>
              <a:rPr lang="en-IN" b="1" dirty="0" err="1"/>
              <a:t>Color</a:t>
            </a:r>
            <a:r>
              <a:rPr lang="en-IN" b="1" dirty="0"/>
              <a:t> Adjustments:</a:t>
            </a:r>
            <a:r>
              <a:rPr lang="en-IN" dirty="0"/>
              <a:t> Brightness, Contrast, Saturation, Hue, Temperature, Shadows, Highlights.</a:t>
            </a:r>
          </a:p>
          <a:p>
            <a:pPr>
              <a:lnSpc>
                <a:spcPct val="150000"/>
              </a:lnSpc>
            </a:pPr>
            <a:r>
              <a:rPr lang="en-IN" b="1" dirty="0"/>
              <a:t>Quality Evaluation:</a:t>
            </a:r>
            <a:r>
              <a:rPr lang="en-IN" dirty="0"/>
              <a:t> PSNR, SSIM, Enhancement Score, Processing Time.</a:t>
            </a:r>
          </a:p>
          <a:p>
            <a:pPr>
              <a:lnSpc>
                <a:spcPct val="150000"/>
              </a:lnSpc>
            </a:pPr>
            <a:r>
              <a:rPr lang="en-IN" b="1" dirty="0"/>
              <a:t>Feedback:</a:t>
            </a:r>
            <a:r>
              <a:rPr lang="en-IN" dirty="0"/>
              <a:t> 5-star interactive rating system.</a:t>
            </a: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6C31AD14-F6DD-944E-AA6C-0920E4288A4D}"/>
              </a:ext>
            </a:extLst>
          </p:cNvPr>
          <p:cNvSpPr txBox="1"/>
          <p:nvPr/>
        </p:nvSpPr>
        <p:spPr>
          <a:xfrm>
            <a:off x="2743200" y="762000"/>
            <a:ext cx="6629400" cy="461665"/>
          </a:xfrm>
          <a:prstGeom prst="rect">
            <a:avLst/>
          </a:prstGeom>
          <a:noFill/>
        </p:spPr>
        <p:txBody>
          <a:bodyPr wrap="square">
            <a:spAutoFit/>
          </a:bodyPr>
          <a:lstStyle/>
          <a:p>
            <a:r>
              <a:rPr lang="en-IN" sz="2400" b="1" dirty="0"/>
              <a:t>Methodologies / Algorithms Implemented</a:t>
            </a:r>
          </a:p>
        </p:txBody>
      </p:sp>
    </p:spTree>
    <p:extLst>
      <p:ext uri="{BB962C8B-B14F-4D97-AF65-F5344CB8AC3E}">
        <p14:creationId xmlns:p14="http://schemas.microsoft.com/office/powerpoint/2010/main" val="2154456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86A54C-F11F-5660-D462-2AC113BFBF97}"/>
              </a:ext>
            </a:extLst>
          </p:cNvPr>
          <p:cNvSpPr txBox="1"/>
          <p:nvPr/>
        </p:nvSpPr>
        <p:spPr>
          <a:xfrm>
            <a:off x="548148" y="926768"/>
            <a:ext cx="7086600" cy="3739998"/>
          </a:xfrm>
          <a:prstGeom prst="rect">
            <a:avLst/>
          </a:prstGeom>
          <a:noFill/>
        </p:spPr>
        <p:txBody>
          <a:bodyPr wrap="square">
            <a:spAutoFit/>
          </a:bodyPr>
          <a:lstStyle/>
          <a:p>
            <a:pPr algn="l">
              <a:lnSpc>
                <a:spcPct val="150000"/>
              </a:lnSpc>
              <a:buFont typeface="Arial" panose="020B0604020202020204" pitchFamily="34" charset="0"/>
              <a:buChar char="•"/>
            </a:pPr>
            <a:r>
              <a:rPr lang="en-IN" sz="1600" dirty="0"/>
              <a:t>Sample low-light image enhanced → brighter, less noisy, improved    details (see below examples).</a:t>
            </a:r>
          </a:p>
          <a:p>
            <a:pPr algn="l">
              <a:lnSpc>
                <a:spcPct val="150000"/>
              </a:lnSpc>
              <a:buFont typeface="Arial" panose="020B0604020202020204" pitchFamily="34" charset="0"/>
              <a:buChar char="•"/>
            </a:pPr>
            <a:r>
              <a:rPr lang="en-IN" sz="1600" dirty="0"/>
              <a:t>Quality Metrics Example:</a:t>
            </a:r>
          </a:p>
          <a:p>
            <a:pPr marL="742950" lvl="1" indent="-285750" algn="l">
              <a:lnSpc>
                <a:spcPct val="150000"/>
              </a:lnSpc>
              <a:buFont typeface="Arial" panose="020B0604020202020204" pitchFamily="34" charset="0"/>
              <a:buChar char="•"/>
            </a:pPr>
            <a:r>
              <a:rPr lang="en-IN" sz="1600" dirty="0"/>
              <a:t>PSNR ↑ from ~18 dB → ~32 </a:t>
            </a:r>
            <a:r>
              <a:rPr lang="en-IN" sz="1600" dirty="0" err="1"/>
              <a:t>dB.</a:t>
            </a:r>
            <a:endParaRPr lang="en-IN" sz="1600" dirty="0"/>
          </a:p>
          <a:p>
            <a:pPr marL="742950" lvl="1" indent="-285750" algn="l">
              <a:lnSpc>
                <a:spcPct val="150000"/>
              </a:lnSpc>
              <a:buFont typeface="Arial" panose="020B0604020202020204" pitchFamily="34" charset="0"/>
              <a:buChar char="•"/>
            </a:pPr>
            <a:r>
              <a:rPr lang="en-IN" sz="1600" dirty="0"/>
              <a:t>SSIM ↑ from ~0.62 → ~0.91.</a:t>
            </a:r>
          </a:p>
          <a:p>
            <a:pPr marL="742950" lvl="1" indent="-285750" algn="l">
              <a:lnSpc>
                <a:spcPct val="150000"/>
              </a:lnSpc>
              <a:buFont typeface="Arial" panose="020B0604020202020204" pitchFamily="34" charset="0"/>
              <a:buChar char="•"/>
            </a:pPr>
            <a:r>
              <a:rPr lang="en-IN" sz="1600" dirty="0"/>
              <a:t>Enhancement Score ~85%.</a:t>
            </a:r>
          </a:p>
          <a:p>
            <a:pPr algn="l">
              <a:lnSpc>
                <a:spcPct val="150000"/>
              </a:lnSpc>
              <a:buFont typeface="Arial" panose="020B0604020202020204" pitchFamily="34" charset="0"/>
              <a:buChar char="•"/>
            </a:pPr>
            <a:r>
              <a:rPr lang="en-IN" sz="1600" dirty="0"/>
              <a:t>Real-time processing under 1s per image</a:t>
            </a:r>
          </a:p>
          <a:p>
            <a:pPr algn="l">
              <a:lnSpc>
                <a:spcPct val="150000"/>
              </a:lnSpc>
              <a:buFont typeface="Arial" panose="020B0604020202020204" pitchFamily="34" charset="0"/>
              <a:buChar char="•"/>
            </a:pPr>
            <a:r>
              <a:rPr lang="en-IN" sz="1600" dirty="0"/>
              <a:t> (on GPU).</a:t>
            </a:r>
          </a:p>
          <a:p>
            <a:pPr algn="l">
              <a:lnSpc>
                <a:spcPct val="150000"/>
              </a:lnSpc>
              <a:buFont typeface="Arial" panose="020B0604020202020204" pitchFamily="34" charset="0"/>
              <a:buChar char="•"/>
            </a:pPr>
            <a:r>
              <a:rPr lang="en-IN" sz="1600" dirty="0"/>
              <a:t>User study: Higher satisfaction with </a:t>
            </a:r>
          </a:p>
          <a:p>
            <a:pPr algn="l">
              <a:lnSpc>
                <a:spcPct val="150000"/>
              </a:lnSpc>
            </a:pPr>
            <a:r>
              <a:rPr lang="en-IN" sz="1600" dirty="0"/>
              <a:t>  advanced </a:t>
            </a:r>
            <a:r>
              <a:rPr lang="en-IN" sz="1600" dirty="0" err="1"/>
              <a:t>color</a:t>
            </a:r>
            <a:r>
              <a:rPr lang="en-IN" sz="1600" dirty="0"/>
              <a:t> grading +   feedback loop.</a:t>
            </a:r>
          </a:p>
        </p:txBody>
      </p:sp>
      <p:sp>
        <p:nvSpPr>
          <p:cNvPr id="5" name="TextBox 4">
            <a:extLst>
              <a:ext uri="{FF2B5EF4-FFF2-40B4-BE49-F238E27FC236}">
                <a16:creationId xmlns:a16="http://schemas.microsoft.com/office/drawing/2014/main" id="{34620BEB-20F7-EC62-7078-FF4681087762}"/>
              </a:ext>
            </a:extLst>
          </p:cNvPr>
          <p:cNvSpPr txBox="1"/>
          <p:nvPr/>
        </p:nvSpPr>
        <p:spPr>
          <a:xfrm>
            <a:off x="533400" y="457200"/>
            <a:ext cx="6096000" cy="400110"/>
          </a:xfrm>
          <a:prstGeom prst="rect">
            <a:avLst/>
          </a:prstGeom>
          <a:noFill/>
        </p:spPr>
        <p:txBody>
          <a:bodyPr wrap="square">
            <a:spAutoFit/>
          </a:bodyPr>
          <a:lstStyle/>
          <a:p>
            <a:pPr>
              <a:buNone/>
            </a:pPr>
            <a:r>
              <a:rPr lang="en-IN" sz="2000" b="1" dirty="0"/>
              <a:t>Partial Results Obtained</a:t>
            </a:r>
          </a:p>
        </p:txBody>
      </p:sp>
      <p:pic>
        <p:nvPicPr>
          <p:cNvPr id="9" name="Picture 8" descr="A screenshot of a screen shot&#10;&#10;AI-generated content may be incorrect.">
            <a:extLst>
              <a:ext uri="{FF2B5EF4-FFF2-40B4-BE49-F238E27FC236}">
                <a16:creationId xmlns:a16="http://schemas.microsoft.com/office/drawing/2014/main" id="{558D87D3-B5DE-7724-F595-F6590C50C2D9}"/>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0" b="89899" l="2144" r="94874">
                        <a14:foregroundMark x1="2144" y1="9668" x2="17614" y2="40693"/>
                        <a14:foregroundMark x1="17614" y1="40693" x2="28984" y2="34488"/>
                        <a14:foregroundMark x1="28984" y1="34488" x2="25070" y2="41847"/>
                        <a14:foregroundMark x1="25070" y1="41847" x2="24977" y2="41847"/>
                        <a14:foregroundMark x1="60671" y1="40693" x2="60671" y2="40693"/>
                        <a14:foregroundMark x1="83691" y1="23954" x2="83691" y2="23954"/>
                        <a14:foregroundMark x1="86300" y1="29726" x2="86300" y2="29726"/>
                        <a14:foregroundMark x1="86300" y1="29726" x2="68872" y2="28860"/>
                        <a14:foregroundMark x1="68872" y1="28860" x2="59273" y2="22944"/>
                        <a14:foregroundMark x1="59273" y1="22944" x2="78472" y2="19336"/>
                        <a14:foregroundMark x1="78472" y1="19336" x2="79776" y2="21212"/>
                        <a14:foregroundMark x1="51631" y1="10967" x2="53402" y2="48196"/>
                        <a14:foregroundMark x1="53402" y1="48196" x2="77353" y2="44444"/>
                        <a14:foregroundMark x1="77353" y1="44444" x2="85368" y2="44589"/>
                        <a14:foregroundMark x1="85368" y1="44589" x2="97204" y2="47908"/>
                        <a14:foregroundMark x1="97204" y1="47908" x2="97484" y2="12843"/>
                        <a14:foregroundMark x1="97484" y1="12843" x2="83038" y2="10823"/>
                        <a14:foregroundMark x1="83038" y1="10823" x2="80731" y2="7714"/>
                        <a14:foregroundMark x1="66152" y1="9150" x2="64119" y2="10823"/>
                        <a14:foregroundMark x1="64119" y1="10823" x2="50885" y2="10678"/>
                        <a14:foregroundMark x1="50885" y1="10678" x2="51072" y2="10967"/>
                        <a14:foregroundMark x1="94874" y1="46898" x2="94874" y2="46898"/>
                        <a14:foregroundMark x1="21808" y1="26407" x2="21808" y2="26407"/>
                        <a14:foregroundMark x1="5033" y1="12410" x2="32060" y2="8802"/>
                        <a14:foregroundMark x1="32060" y1="8802" x2="43616" y2="9091"/>
                        <a14:foregroundMark x1="43616" y1="9091" x2="46692" y2="24531"/>
                        <a14:foregroundMark x1="46692" y1="24531" x2="44921" y2="37518"/>
                        <a14:foregroundMark x1="44921" y1="37518" x2="23206" y2="32756"/>
                        <a14:foregroundMark x1="23206" y1="32756" x2="7735" y2="18038"/>
                        <a14:foregroundMark x1="80429" y1="10245" x2="80336" y2="10390"/>
                        <a14:foregroundMark x1="80336" y1="10390" x2="80336" y2="10390"/>
                        <a14:foregroundMark x1="80336" y1="10390" x2="80801" y2="12987"/>
                        <a14:foregroundMark x1="80801" y1="12987" x2="75769" y2="5483"/>
                        <a14:foregroundMark x1="75769" y1="5483" x2="79497" y2="15584"/>
                        <a14:foregroundMark x1="79497" y1="15584" x2="81640" y2="16450"/>
                        <a14:backgroundMark x1="23672" y1="5339" x2="29547" y2="6648"/>
                        <a14:backgroundMark x1="29841" y1="6609" x2="18453" y2="3896"/>
                        <a14:backgroundMark x1="28239" y1="1876" x2="16216" y2="722"/>
                        <a14:backgroundMark x1="30755" y1="5195" x2="27213" y2="3752"/>
                        <a14:backgroundMark x1="75205" y1="3440" x2="67102" y2="4185"/>
                        <a14:backgroundMark x1="87512" y1="2309" x2="75493" y2="3414"/>
                        <a14:backgroundMark x1="77729" y1="4618" x2="84809" y2="4906"/>
                        <a14:backgroundMark x1="76261" y1="4558" x2="76888" y2="4584"/>
                        <a14:backgroundMark x1="67102" y1="4185" x2="75505" y2="4527"/>
                        <a14:backgroundMark x1="84809" y1="4906" x2="85834" y2="4762"/>
                        <a14:backgroundMark x1="66076" y1="6061" x2="65238" y2="7937"/>
                        <a14:backgroundMark x1="75789" y1="5554" x2="66636" y2="6494"/>
                        <a14:backgroundMark x1="83504" y1="4762" x2="77991" y2="5328"/>
                        <a14:backgroundMark x1="66636" y1="6494" x2="74492" y2="8204"/>
                        <a14:backgroundMark x1="78871" y1="7711" x2="79590" y2="4473"/>
                        <a14:backgroundMark x1="79404" y1="6349" x2="79963" y2="5483"/>
                      </a14:backgroundRemoval>
                    </a14:imgEffect>
                  </a14:imgLayer>
                </a14:imgProps>
              </a:ext>
              <a:ext uri="{28A0092B-C50C-407E-A947-70E740481C1C}">
                <a14:useLocalDpi xmlns:a14="http://schemas.microsoft.com/office/drawing/2010/main" val="0"/>
              </a:ext>
            </a:extLst>
          </a:blip>
          <a:stretch>
            <a:fillRect/>
          </a:stretch>
        </p:blipFill>
        <p:spPr>
          <a:xfrm>
            <a:off x="4686300" y="1279843"/>
            <a:ext cx="7457051" cy="4816157"/>
          </a:xfrm>
          <a:prstGeom prst="rect">
            <a:avLst/>
          </a:prstGeom>
        </p:spPr>
      </p:pic>
      <p:pic>
        <p:nvPicPr>
          <p:cNvPr id="11" name="Picture 10" descr="A collage of a person&#10;&#10;AI-generated content may be incorrect.">
            <a:extLst>
              <a:ext uri="{FF2B5EF4-FFF2-40B4-BE49-F238E27FC236}">
                <a16:creationId xmlns:a16="http://schemas.microsoft.com/office/drawing/2014/main" id="{89EBD9A4-A308-B7A6-D3F0-F1E9D8F16E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71525" y="3714960"/>
            <a:ext cx="7086600" cy="2905506"/>
          </a:xfrm>
          <a:prstGeom prst="rect">
            <a:avLst/>
          </a:prstGeom>
        </p:spPr>
      </p:pic>
    </p:spTree>
    <p:extLst>
      <p:ext uri="{BB962C8B-B14F-4D97-AF65-F5344CB8AC3E}">
        <p14:creationId xmlns:p14="http://schemas.microsoft.com/office/powerpoint/2010/main" val="1609412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609600" y="643944"/>
            <a:ext cx="10972800" cy="643944"/>
          </a:xfrm>
          <a:prstGeom prst="rect">
            <a:avLst/>
          </a:prstGeom>
        </p:spPr>
        <p:txBody>
          <a:bodyPr/>
          <a:lstStyle>
            <a:lvl1pPr>
              <a:defRPr>
                <a:latin typeface="+mj-lt"/>
                <a:ea typeface="+mj-ea"/>
                <a:cs typeface="+mj-cs"/>
              </a:defRPr>
            </a:lvl1pPr>
          </a:lstStyle>
          <a:p>
            <a:r>
              <a:rPr lang="en-US" sz="2800" b="1" dirty="0">
                <a:latin typeface="Times New Roman" pitchFamily="18" charset="0"/>
                <a:cs typeface="Times New Roman" pitchFamily="18" charset="0"/>
              </a:rPr>
              <a:t>PLAN OF EXECUTION 3.0</a:t>
            </a:r>
            <a:br>
              <a:rPr lang="en-US" b="1" dirty="0">
                <a:latin typeface="Times New Roman" pitchFamily="18" charset="0"/>
                <a:cs typeface="Times New Roman" pitchFamily="18" charset="0"/>
              </a:rPr>
            </a:br>
            <a:endParaRPr lang="en-IN" dirty="0"/>
          </a:p>
        </p:txBody>
      </p:sp>
      <p:sp>
        <p:nvSpPr>
          <p:cNvPr id="3" name="Footer Placeholder 3"/>
          <p:cNvSpPr>
            <a:spLocks noGrp="1"/>
          </p:cNvSpPr>
          <p:nvPr>
            <p:ph type="ftr" sz="quarter" idx="4294967295"/>
          </p:nvPr>
        </p:nvSpPr>
        <p:spPr>
          <a:xfrm>
            <a:off x="4165600" y="6356350"/>
            <a:ext cx="3860800" cy="365125"/>
          </a:xfrm>
          <a:prstGeom prst="rect">
            <a:avLst/>
          </a:prstGeom>
        </p:spPr>
        <p:txBody>
          <a:bodyPr/>
          <a:lstStyle/>
          <a:p>
            <a:pPr>
              <a:defRPr/>
            </a:pPr>
            <a:r>
              <a:rPr lang="en-US" sz="1600" dirty="0"/>
              <a:t>Dept. of CSE, SJCIT</a:t>
            </a:r>
          </a:p>
        </p:txBody>
      </p:sp>
      <p:sp>
        <p:nvSpPr>
          <p:cNvPr id="8" name="TextBox 7">
            <a:extLst>
              <a:ext uri="{FF2B5EF4-FFF2-40B4-BE49-F238E27FC236}">
                <a16:creationId xmlns:a16="http://schemas.microsoft.com/office/drawing/2014/main" id="{28494E01-B3F2-1B2B-B57A-9D892D926A93}"/>
              </a:ext>
            </a:extLst>
          </p:cNvPr>
          <p:cNvSpPr txBox="1"/>
          <p:nvPr/>
        </p:nvSpPr>
        <p:spPr>
          <a:xfrm>
            <a:off x="762000" y="1447800"/>
            <a:ext cx="9220200" cy="3365024"/>
          </a:xfrm>
          <a:prstGeom prst="rect">
            <a:avLst/>
          </a:prstGeom>
          <a:noFill/>
        </p:spPr>
        <p:txBody>
          <a:bodyPr wrap="square">
            <a:spAutoFit/>
          </a:bodyPr>
          <a:lstStyle/>
          <a:p>
            <a:pPr algn="l">
              <a:lnSpc>
                <a:spcPct val="150000"/>
              </a:lnSpc>
              <a:buNone/>
            </a:pPr>
            <a:r>
              <a:rPr lang="en-US" b="1" dirty="0"/>
              <a:t>Week 1:</a:t>
            </a:r>
            <a:r>
              <a:rPr lang="en-US" dirty="0"/>
              <a:t> Implemented </a:t>
            </a:r>
            <a:r>
              <a:rPr lang="en-US" dirty="0" err="1"/>
              <a:t>DEDUNet</a:t>
            </a:r>
            <a:r>
              <a:rPr lang="en-US" dirty="0"/>
              <a:t> model and tested on sample low-light images.</a:t>
            </a:r>
            <a:br>
              <a:rPr lang="en-US" dirty="0"/>
            </a:br>
            <a:r>
              <a:rPr lang="en-US" b="1" dirty="0"/>
              <a:t>Week 2:</a:t>
            </a:r>
            <a:r>
              <a:rPr lang="en-US" dirty="0"/>
              <a:t> Integrated classical methods (Gamma, CLAHE) and compared outputs.</a:t>
            </a:r>
            <a:br>
              <a:rPr lang="en-US" dirty="0"/>
            </a:br>
            <a:r>
              <a:rPr lang="en-US" b="1" dirty="0"/>
              <a:t>Week 3:</a:t>
            </a:r>
            <a:r>
              <a:rPr lang="en-US" dirty="0"/>
              <a:t> Developed basic Flask web interface for image upload and processing.</a:t>
            </a:r>
            <a:br>
              <a:rPr lang="en-US" dirty="0"/>
            </a:br>
            <a:r>
              <a:rPr lang="en-US" b="1" dirty="0"/>
              <a:t>Week 4:</a:t>
            </a:r>
            <a:r>
              <a:rPr lang="en-US" dirty="0"/>
              <a:t> Added advanced color adjustments and partial quality metrics (PSNR, SSIM).</a:t>
            </a:r>
          </a:p>
          <a:p>
            <a:pPr algn="l">
              <a:lnSpc>
                <a:spcPct val="150000"/>
              </a:lnSpc>
              <a:buNone/>
            </a:pPr>
            <a:r>
              <a:rPr lang="en-US" b="1" dirty="0"/>
              <a:t>Week 5:</a:t>
            </a:r>
            <a:r>
              <a:rPr lang="en-US" dirty="0"/>
              <a:t> Optimized </a:t>
            </a:r>
            <a:r>
              <a:rPr lang="en-US" dirty="0" err="1"/>
              <a:t>DEDUNet</a:t>
            </a:r>
            <a:r>
              <a:rPr lang="en-US" dirty="0"/>
              <a:t> with dual enhancement blocks for better results.</a:t>
            </a:r>
            <a:br>
              <a:rPr lang="en-US" dirty="0"/>
            </a:br>
            <a:r>
              <a:rPr lang="en-US" b="1" dirty="0"/>
              <a:t>Week 6:</a:t>
            </a:r>
            <a:r>
              <a:rPr lang="en-US" dirty="0"/>
              <a:t> Completed integration of real-time quality metrics and enhancement score.</a:t>
            </a:r>
            <a:br>
              <a:rPr lang="en-US" dirty="0"/>
            </a:br>
            <a:r>
              <a:rPr lang="en-US" b="1" dirty="0"/>
              <a:t>Week 7:</a:t>
            </a:r>
            <a:r>
              <a:rPr lang="en-US" dirty="0"/>
              <a:t> Developed full 5-star rating system with feedback messages in the web app.</a:t>
            </a:r>
            <a:br>
              <a:rPr lang="en-US" dirty="0"/>
            </a:br>
            <a:r>
              <a:rPr lang="en-US" b="1" dirty="0"/>
              <a:t>Week 8:</a:t>
            </a:r>
            <a:r>
              <a:rPr lang="en-US" dirty="0"/>
              <a:t> Final testing, documentation, and preparation of results for submission.</a:t>
            </a:r>
          </a:p>
        </p:txBody>
      </p:sp>
    </p:spTree>
    <p:extLst>
      <p:ext uri="{BB962C8B-B14F-4D97-AF65-F5344CB8AC3E}">
        <p14:creationId xmlns:p14="http://schemas.microsoft.com/office/powerpoint/2010/main" val="33473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38400" y="2514600"/>
            <a:ext cx="7197725" cy="1489075"/>
          </a:xfrm>
          <a:prstGeom prst="rect">
            <a:avLst/>
          </a:prstGeom>
        </p:spPr>
        <p:txBody>
          <a:bodyPr vert="horz" wrap="square" lIns="0" tIns="12700" rIns="0" bIns="0" rtlCol="0">
            <a:spAutoFit/>
          </a:bodyPr>
          <a:lstStyle/>
          <a:p>
            <a:pPr marL="12700">
              <a:lnSpc>
                <a:spcPct val="100000"/>
              </a:lnSpc>
              <a:spcBef>
                <a:spcPts val="100"/>
              </a:spcBef>
            </a:pPr>
            <a:r>
              <a:rPr sz="9600" b="0" spc="-25" dirty="0">
                <a:solidFill>
                  <a:srgbClr val="375F92"/>
                </a:solidFill>
                <a:latin typeface="Times New Roman"/>
                <a:cs typeface="Times New Roman"/>
              </a:rPr>
              <a:t>THANK</a:t>
            </a:r>
            <a:r>
              <a:rPr sz="9600" b="0" spc="-555" dirty="0">
                <a:solidFill>
                  <a:srgbClr val="375F92"/>
                </a:solidFill>
                <a:latin typeface="Times New Roman"/>
                <a:cs typeface="Times New Roman"/>
              </a:rPr>
              <a:t> </a:t>
            </a:r>
            <a:r>
              <a:rPr sz="9600" b="0" spc="-25" dirty="0">
                <a:solidFill>
                  <a:srgbClr val="375F92"/>
                </a:solidFill>
                <a:latin typeface="Times New Roman"/>
                <a:cs typeface="Times New Roman"/>
              </a:rPr>
              <a:t>YOU</a:t>
            </a:r>
            <a:endParaRPr sz="9600" dirty="0">
              <a:latin typeface="Times New Roman"/>
              <a:cs typeface="Times New Roman"/>
            </a:endParaRPr>
          </a:p>
        </p:txBody>
      </p:sp>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45" dirty="0"/>
              <a:t> </a:t>
            </a:r>
            <a:r>
              <a:rPr dirty="0"/>
              <a:t>of CSE,</a:t>
            </a:r>
            <a:r>
              <a:rPr spc="-15" dirty="0"/>
              <a:t> </a:t>
            </a:r>
            <a:r>
              <a:rPr spc="-10" dirty="0"/>
              <a:t>SJCIT</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375"/>
              </a:lnSpc>
            </a:pPr>
            <a:fld id="{81D60167-4931-47E6-BA6A-407CBD079E47}" type="slidenum">
              <a:rPr spc="-25" dirty="0"/>
              <a:t>13</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620</TotalTime>
  <Words>1267</Words>
  <Application>Microsoft Office PowerPoint</Application>
  <PresentationFormat>Widescreen</PresentationFormat>
  <Paragraphs>147</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Bookman Old Style</vt:lpstr>
      <vt:lpstr>Calibri</vt:lpstr>
      <vt:lpstr>Courier New</vt:lpstr>
      <vt:lpstr>Kanit Light</vt:lpstr>
      <vt:lpstr>Martel Sans</vt:lpstr>
      <vt:lpstr>Times New Roman</vt:lpstr>
      <vt:lpstr>Office Theme</vt:lpstr>
      <vt:lpstr>  “Enhancing images captured in low-light conditions often suffer from  poor visibility and noise.”</vt:lpstr>
      <vt:lpstr>CONTENTS</vt:lpstr>
      <vt:lpstr>PowerPoint Presentation</vt:lpstr>
      <vt:lpstr>ABSTRACT</vt:lpstr>
      <vt:lpstr>INTRODUCTION</vt:lpstr>
      <vt:lpstr>PowerPoint Presentation</vt:lpstr>
      <vt:lpstr>PowerPoint Presentation</vt:lpstr>
      <vt:lpstr>        SRS (System Requirements Specification) </vt:lpstr>
      <vt:lpstr>  Architecture / System Design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Project work On “FROM THE RISE OF AI TO FUTURE SHOCK- STATE OF THE ART”</dc:title>
  <dc:creator>Khushi Divya</dc:creator>
  <cp:lastModifiedBy>Akash jogamol</cp:lastModifiedBy>
  <cp:revision>19</cp:revision>
  <dcterms:created xsi:type="dcterms:W3CDTF">2025-05-03T06:11:47Z</dcterms:created>
  <dcterms:modified xsi:type="dcterms:W3CDTF">2025-09-11T17:49:06Z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2025-04-26T00:00:00Z</vt:filetime>
  </property>
  <property fmtid="{D5CDD505-2E9C-101B-9397-08002B2CF9AE}" pid="3" name="Creator">
    <vt:lpwstr>Microsoft® PowerPoint® 2021</vt:lpwstr>
  </property>
  <property fmtid="{D5CDD505-2E9C-101B-9397-08002B2CF9AE}" pid="4" name="LastSaved">
    <vt:filetime>2025-05-03T00:00:00Z</vt:filetime>
  </property>
  <property fmtid="{D5CDD505-2E9C-101B-9397-08002B2CF9AE}" pid="5" name="Producer">
    <vt:lpwstr>Microsoft® PowerPoint® 2021</vt:lpwstr>
  </property>
</Properties>
</file>