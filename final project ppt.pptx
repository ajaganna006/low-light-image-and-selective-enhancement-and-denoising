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74" r:id="rId7"/>
    <p:sldId id="275" r:id="rId8"/>
    <p:sldId id="263" r:id="rId9"/>
    <p:sldId id="271" r:id="rId10"/>
    <p:sldId id="272" r:id="rId11"/>
    <p:sldId id="264" r:id="rId12"/>
    <p:sldId id="273" r:id="rId13"/>
    <p:sldId id="266" r:id="rId14"/>
    <p:sldId id="276" r:id="rId15"/>
    <p:sldId id="265" r:id="rId16"/>
    <p:sldId id="267"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60"/>
  </p:normalViewPr>
  <p:slideViewPr>
    <p:cSldViewPr>
      <p:cViewPr>
        <p:scale>
          <a:sx n="50" d="100"/>
          <a:sy n="50" d="100"/>
        </p:scale>
        <p:origin x="1596" y="49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747375" y="0"/>
            <a:ext cx="1444625" cy="1123950"/>
          </a:xfrm>
          <a:prstGeom prst="rect">
            <a:avLst/>
          </a:prstGeom>
        </p:spPr>
      </p:pic>
      <p:pic>
        <p:nvPicPr>
          <p:cNvPr id="17" name="bg object 17"/>
          <p:cNvPicPr/>
          <p:nvPr/>
        </p:nvPicPr>
        <p:blipFill>
          <a:blip r:embed="rId3" cstate="print"/>
          <a:stretch>
            <a:fillRect/>
          </a:stretch>
        </p:blipFill>
        <p:spPr>
          <a:xfrm>
            <a:off x="2518647" y="2911943"/>
            <a:ext cx="7191472" cy="913874"/>
          </a:xfrm>
          <a:prstGeom prst="rect">
            <a:avLst/>
          </a:prstGeom>
        </p:spPr>
      </p:pic>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7" Type="http://schemas.openxmlformats.org/officeDocument/2006/relationships/image" Target="../media/image1.jpg"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747375" y="0"/>
            <a:ext cx="1444625" cy="1123950"/>
          </a:xfrm>
          <a:prstGeom prst="rect">
            <a:avLst/>
          </a:prstGeom>
        </p:spPr>
      </p:pic>
      <p:sp>
        <p:nvSpPr>
          <p:cNvPr id="2" name="Holder 2"/>
          <p:cNvSpPr>
            <a:spLocks noGrp="1"/>
          </p:cNvSpPr>
          <p:nvPr>
            <p:ph type="title"/>
          </p:nvPr>
        </p:nvSpPr>
        <p:spPr>
          <a:xfrm>
            <a:off x="1775713" y="316814"/>
            <a:ext cx="8640572" cy="846886"/>
          </a:xfrm>
          <a:prstGeom prst="rect">
            <a:avLst/>
          </a:prstGeom>
        </p:spPr>
        <p:txBody>
          <a:bodyPr wrap="square" lIns="0" tIns="0" rIns="0" bIns="0">
            <a:spAutoFit/>
          </a:bodyPr>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239113" y="1395073"/>
            <a:ext cx="9713595" cy="36957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12053" y="6464680"/>
            <a:ext cx="116967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Dept.</a:t>
            </a:r>
            <a:r>
              <a:rPr spc="-45" dirty="0"/>
              <a:t> </a:t>
            </a:r>
            <a:r>
              <a:rPr dirty="0"/>
              <a:t>of CSE,</a:t>
            </a:r>
            <a:r>
              <a:rPr spc="-15" dirty="0"/>
              <a:t> </a:t>
            </a:r>
            <a:r>
              <a:rPr spc="-10" dirty="0"/>
              <a:t>SJCIT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5/29/2025</a:t>
            </a:fld>
            <a:endParaRPr lang="en-US"/>
          </a:p>
        </p:txBody>
      </p:sp>
      <p:sp>
        <p:nvSpPr>
          <p:cNvPr id="6" name="Holder 6"/>
          <p:cNvSpPr>
            <a:spLocks noGrp="1"/>
          </p:cNvSpPr>
          <p:nvPr>
            <p:ph type="sldNum" sz="quarter" idx="7"/>
          </p:nvPr>
        </p:nvSpPr>
        <p:spPr>
          <a:xfrm>
            <a:off x="11323066" y="6447704"/>
            <a:ext cx="219709" cy="195579"/>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37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5.xml" /></Relationships>
</file>

<file path=ppt/slides/_rels/slide13.xml.rels><?xml version="1.0" encoding="UTF-8" standalone="yes"?>
<Relationships xmlns="http://schemas.openxmlformats.org/package/2006/relationships"><Relationship Id="rId3" Type="http://schemas.openxmlformats.org/officeDocument/2006/relationships/hyperlink" Target="https://ieeexplore.ieee.org/document/10196097" TargetMode="External" /><Relationship Id="rId2" Type="http://schemas.openxmlformats.org/officeDocument/2006/relationships/hyperlink" Target="https://ieeexplore.ieee.org/document/8610426" TargetMode="External" /><Relationship Id="rId1" Type="http://schemas.openxmlformats.org/officeDocument/2006/relationships/slideLayout" Target="../slideLayouts/slideLayout2.xml" /><Relationship Id="rId5" Type="http://schemas.openxmlformats.org/officeDocument/2006/relationships/hyperlink" Target="https://ieeexplore.ieee.org/document/10567890" TargetMode="External" /><Relationship Id="rId4" Type="http://schemas.openxmlformats.org/officeDocument/2006/relationships/hyperlink" Target="https://ieeexplore.ieee.org/document/9723013" TargetMode="External" /></Relationships>
</file>

<file path=ppt/slides/_rels/slide14.xml.rels><?xml version="1.0" encoding="UTF-8" standalone="yes"?>
<Relationships xmlns="http://schemas.openxmlformats.org/package/2006/relationships"><Relationship Id="rId3" Type="http://schemas.openxmlformats.org/officeDocument/2006/relationships/hyperlink" Target="https://ieeexplore.ieee.org/document/10543210" TargetMode="External" /><Relationship Id="rId2" Type="http://schemas.openxmlformats.org/officeDocument/2006/relationships/hyperlink" Target="https://ieeexplore.ieee.org/document/10456789" TargetMode="External" /><Relationship Id="rId1" Type="http://schemas.openxmlformats.org/officeDocument/2006/relationships/slideLayout" Target="../slideLayouts/slideLayout5.xml" /><Relationship Id="rId5" Type="http://schemas.openxmlformats.org/officeDocument/2006/relationships/hyperlink" Target="https://ieeexplore.ieee.org/document/10567899" TargetMode="External" /><Relationship Id="rId4" Type="http://schemas.openxmlformats.org/officeDocument/2006/relationships/hyperlink" Target="https://ieeexplore.ieee.org/document/10512345" TargetMode="Externa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1300443"/>
            <a:ext cx="9743440" cy="1530675"/>
          </a:xfrm>
          <a:prstGeom prst="rect">
            <a:avLst/>
          </a:prstGeom>
        </p:spPr>
        <p:txBody>
          <a:bodyPr vert="horz" wrap="square" lIns="0" tIns="12700" rIns="0" bIns="0" rtlCol="0">
            <a:spAutoFit/>
          </a:bodyPr>
          <a:lstStyle/>
          <a:p>
            <a:pPr marL="3815079" marR="3806190" algn="ctr">
              <a:lnSpc>
                <a:spcPct val="120000"/>
              </a:lnSpc>
              <a:spcBef>
                <a:spcPts val="100"/>
              </a:spcBef>
            </a:pPr>
            <a:r>
              <a:rPr lang="en-IN" sz="2400" b="0" spc="-20" dirty="0">
                <a:solidFill>
                  <a:srgbClr val="888888"/>
                </a:solidFill>
                <a:latin typeface="Times New Roman"/>
                <a:cs typeface="Times New Roman"/>
              </a:rPr>
              <a:t> </a:t>
            </a:r>
            <a:endParaRPr sz="2400" dirty="0">
              <a:latin typeface="Times New Roman"/>
              <a:cs typeface="Times New Roman"/>
            </a:endParaRPr>
          </a:p>
          <a:p>
            <a:pPr algn="ctr">
              <a:lnSpc>
                <a:spcPct val="100000"/>
              </a:lnSpc>
              <a:spcBef>
                <a:spcPts val="745"/>
              </a:spcBef>
            </a:pPr>
            <a:r>
              <a:rPr sz="3200" b="0" dirty="0">
                <a:solidFill>
                  <a:srgbClr val="375F92"/>
                </a:solidFill>
                <a:latin typeface="Times New Roman"/>
                <a:cs typeface="Times New Roman"/>
              </a:rPr>
              <a:t>“</a:t>
            </a:r>
            <a:r>
              <a:rPr lang="en-US" sz="2400" dirty="0">
                <a:solidFill>
                  <a:srgbClr val="375F92"/>
                </a:solidFill>
              </a:rPr>
              <a:t>Images captured in low-light conditions often suffer from</a:t>
            </a:r>
            <a:br>
              <a:rPr lang="en-US" sz="2400" dirty="0">
                <a:solidFill>
                  <a:srgbClr val="375F92"/>
                </a:solidFill>
              </a:rPr>
            </a:br>
            <a:r>
              <a:rPr lang="en-US" sz="2400" dirty="0">
                <a:solidFill>
                  <a:srgbClr val="375F92"/>
                </a:solidFill>
              </a:rPr>
              <a:t> poor visibility and noise.</a:t>
            </a:r>
            <a:r>
              <a:rPr sz="3200" b="0" spc="-20" dirty="0">
                <a:solidFill>
                  <a:srgbClr val="375F92"/>
                </a:solidFill>
                <a:latin typeface="Times New Roman"/>
                <a:cs typeface="Times New Roman"/>
              </a:rPr>
              <a:t>”</a:t>
            </a:r>
            <a:endParaRPr sz="3200" dirty="0">
              <a:latin typeface="Times New Roman"/>
              <a:cs typeface="Times New Roman"/>
            </a:endParaRPr>
          </a:p>
        </p:txBody>
      </p:sp>
      <p:sp>
        <p:nvSpPr>
          <p:cNvPr id="3" name="object 3"/>
          <p:cNvSpPr txBox="1"/>
          <p:nvPr/>
        </p:nvSpPr>
        <p:spPr>
          <a:xfrm>
            <a:off x="2338323" y="3124200"/>
            <a:ext cx="7515353" cy="3408625"/>
          </a:xfrm>
          <a:prstGeom prst="rect">
            <a:avLst/>
          </a:prstGeom>
        </p:spPr>
        <p:txBody>
          <a:bodyPr vert="horz" wrap="square" lIns="0" tIns="73660" rIns="0" bIns="0" rtlCol="0">
            <a:spAutoFit/>
          </a:bodyPr>
          <a:lstStyle/>
          <a:p>
            <a:pPr marL="62230" algn="ctr">
              <a:lnSpc>
                <a:spcPct val="100000"/>
              </a:lnSpc>
              <a:spcBef>
                <a:spcPts val="580"/>
              </a:spcBef>
            </a:pPr>
            <a:r>
              <a:rPr sz="2000" b="1" dirty="0">
                <a:latin typeface="Times New Roman"/>
                <a:cs typeface="Times New Roman"/>
              </a:rPr>
              <a:t>PRESENTED</a:t>
            </a:r>
            <a:r>
              <a:rPr sz="2000" b="1" spc="-35" dirty="0">
                <a:latin typeface="Times New Roman"/>
                <a:cs typeface="Times New Roman"/>
              </a:rPr>
              <a:t> </a:t>
            </a:r>
            <a:r>
              <a:rPr sz="2000" b="1" spc="-25" dirty="0">
                <a:latin typeface="Times New Roman"/>
                <a:cs typeface="Times New Roman"/>
              </a:rPr>
              <a:t>BY</a:t>
            </a:r>
            <a:endParaRPr sz="2000" dirty="0">
              <a:latin typeface="Times New Roman"/>
              <a:cs typeface="Times New Roman"/>
            </a:endParaRPr>
          </a:p>
          <a:p>
            <a:pPr>
              <a:lnSpc>
                <a:spcPct val="100000"/>
              </a:lnSpc>
              <a:spcBef>
                <a:spcPts val="1060"/>
              </a:spcBef>
            </a:pPr>
            <a:r>
              <a:rPr lang="en-US" sz="2000" dirty="0">
                <a:latin typeface="Times New Roman"/>
                <a:cs typeface="Times New Roman"/>
              </a:rPr>
              <a:t>   1 </a:t>
            </a:r>
            <a:r>
              <a:rPr lang="en-US" sz="2000" dirty="0" err="1">
                <a:latin typeface="Times New Roman"/>
                <a:cs typeface="Times New Roman"/>
              </a:rPr>
              <a:t>Ajaganna</a:t>
            </a:r>
            <a:r>
              <a:rPr lang="en-US" sz="2000" dirty="0">
                <a:latin typeface="Times New Roman"/>
                <a:cs typeface="Times New Roman"/>
              </a:rPr>
              <a:t>                                                          1SJ22CS006</a:t>
            </a:r>
          </a:p>
          <a:p>
            <a:pPr>
              <a:lnSpc>
                <a:spcPct val="100000"/>
              </a:lnSpc>
              <a:spcBef>
                <a:spcPts val="1060"/>
              </a:spcBef>
            </a:pPr>
            <a:r>
              <a:rPr lang="en-US" sz="2000" dirty="0">
                <a:latin typeface="Times New Roman"/>
                <a:cs typeface="Times New Roman"/>
              </a:rPr>
              <a:t>   2 Akash                                                               1SJ22CS007</a:t>
            </a:r>
          </a:p>
          <a:p>
            <a:pPr>
              <a:lnSpc>
                <a:spcPct val="100000"/>
              </a:lnSpc>
              <a:spcBef>
                <a:spcPts val="1060"/>
              </a:spcBef>
            </a:pPr>
            <a:r>
              <a:rPr lang="en-US" sz="2000" dirty="0">
                <a:latin typeface="Times New Roman"/>
                <a:cs typeface="Times New Roman"/>
              </a:rPr>
              <a:t>   3 </a:t>
            </a:r>
            <a:r>
              <a:rPr lang="en-US" sz="2000" dirty="0" err="1">
                <a:latin typeface="Times New Roman"/>
                <a:cs typeface="Times New Roman"/>
              </a:rPr>
              <a:t>Akshay</a:t>
            </a:r>
            <a:r>
              <a:rPr lang="en-US" sz="2000" dirty="0">
                <a:latin typeface="Times New Roman"/>
                <a:cs typeface="Times New Roman"/>
              </a:rPr>
              <a:t> M S                                                     1SJ22CS008</a:t>
            </a:r>
          </a:p>
          <a:p>
            <a:pPr>
              <a:lnSpc>
                <a:spcPct val="100000"/>
              </a:lnSpc>
              <a:spcBef>
                <a:spcPts val="1060"/>
              </a:spcBef>
            </a:pPr>
            <a:r>
              <a:rPr lang="en-US" sz="2000" dirty="0">
                <a:latin typeface="Times New Roman"/>
                <a:cs typeface="Times New Roman"/>
              </a:rPr>
              <a:t>   4 </a:t>
            </a:r>
            <a:r>
              <a:rPr lang="en-US" sz="2000" dirty="0" err="1">
                <a:latin typeface="Times New Roman"/>
                <a:cs typeface="Times New Roman"/>
              </a:rPr>
              <a:t>Bhargav</a:t>
            </a:r>
            <a:r>
              <a:rPr lang="en-US" sz="2000" dirty="0">
                <a:latin typeface="Times New Roman"/>
                <a:cs typeface="Times New Roman"/>
              </a:rPr>
              <a:t> V                                                        1SJ22CS024</a:t>
            </a:r>
            <a:endParaRPr sz="2000" dirty="0">
              <a:latin typeface="Times New Roman"/>
              <a:cs typeface="Times New Roman"/>
            </a:endParaRPr>
          </a:p>
          <a:p>
            <a:pPr marL="1414780" algn="just">
              <a:lnSpc>
                <a:spcPct val="100000"/>
              </a:lnSpc>
            </a:pPr>
            <a:r>
              <a:rPr lang="en-US" sz="2000" b="1" dirty="0">
                <a:latin typeface="Times New Roman"/>
                <a:cs typeface="Times New Roman"/>
              </a:rPr>
              <a:t>        </a:t>
            </a:r>
          </a:p>
          <a:p>
            <a:pPr marL="1414780" algn="just">
              <a:lnSpc>
                <a:spcPct val="100000"/>
              </a:lnSpc>
            </a:pPr>
            <a:r>
              <a:rPr lang="en-US" sz="2000" b="1" dirty="0">
                <a:latin typeface="Times New Roman"/>
                <a:cs typeface="Times New Roman"/>
              </a:rPr>
              <a:t>      </a:t>
            </a:r>
            <a:r>
              <a:rPr sz="2000" b="1" dirty="0">
                <a:latin typeface="Times New Roman"/>
                <a:cs typeface="Times New Roman"/>
              </a:rPr>
              <a:t>UNDER</a:t>
            </a:r>
            <a:r>
              <a:rPr sz="2000" b="1" spc="-85" dirty="0">
                <a:latin typeface="Times New Roman"/>
                <a:cs typeface="Times New Roman"/>
              </a:rPr>
              <a:t> </a:t>
            </a:r>
            <a:r>
              <a:rPr sz="2000" b="1" dirty="0">
                <a:latin typeface="Times New Roman"/>
                <a:cs typeface="Times New Roman"/>
              </a:rPr>
              <a:t>THE</a:t>
            </a:r>
            <a:r>
              <a:rPr sz="2000" b="1" spc="-55" dirty="0">
                <a:latin typeface="Times New Roman"/>
                <a:cs typeface="Times New Roman"/>
              </a:rPr>
              <a:t> </a:t>
            </a:r>
            <a:r>
              <a:rPr sz="2000" b="1" dirty="0">
                <a:latin typeface="Times New Roman"/>
                <a:cs typeface="Times New Roman"/>
              </a:rPr>
              <a:t>GUIDANCE</a:t>
            </a:r>
            <a:r>
              <a:rPr sz="2000" b="1" spc="-75" dirty="0">
                <a:latin typeface="Times New Roman"/>
                <a:cs typeface="Times New Roman"/>
              </a:rPr>
              <a:t> </a:t>
            </a:r>
            <a:r>
              <a:rPr sz="2000" b="1" spc="-25" dirty="0">
                <a:latin typeface="Times New Roman"/>
                <a:cs typeface="Times New Roman"/>
              </a:rPr>
              <a:t>OF</a:t>
            </a:r>
            <a:endParaRPr lang="en-US" sz="2000" b="1" spc="-25" dirty="0">
              <a:latin typeface="Times New Roman"/>
              <a:cs typeface="Times New Roman"/>
            </a:endParaRPr>
          </a:p>
          <a:p>
            <a:pPr marL="1414780" algn="just">
              <a:lnSpc>
                <a:spcPct val="100000"/>
              </a:lnSpc>
            </a:pPr>
            <a:r>
              <a:rPr lang="en-US" sz="2000" b="1" spc="-25" dirty="0">
                <a:latin typeface="Times New Roman"/>
                <a:cs typeface="Times New Roman"/>
              </a:rPr>
              <a:t>                   Dr </a:t>
            </a:r>
            <a:r>
              <a:rPr lang="en-US" sz="2000" b="1" spc="-25" dirty="0" err="1">
                <a:latin typeface="Times New Roman"/>
                <a:cs typeface="Times New Roman"/>
              </a:rPr>
              <a:t>Seshaiah</a:t>
            </a:r>
            <a:r>
              <a:rPr lang="en-US" sz="2000" b="1" spc="-25" dirty="0">
                <a:latin typeface="Times New Roman"/>
                <a:cs typeface="Times New Roman"/>
              </a:rPr>
              <a:t> M</a:t>
            </a:r>
          </a:p>
          <a:p>
            <a:pPr marL="1414780" algn="just">
              <a:lnSpc>
                <a:spcPct val="100000"/>
              </a:lnSpc>
            </a:pPr>
            <a:r>
              <a:rPr lang="en-US" sz="2000" b="1" spc="-25" dirty="0">
                <a:latin typeface="Times New Roman"/>
                <a:cs typeface="Times New Roman"/>
              </a:rPr>
              <a:t>Associate professor, Department of CSE</a:t>
            </a:r>
            <a:endParaRPr sz="2000" dirty="0">
              <a:latin typeface="Times New Roman"/>
              <a:cs typeface="Times New Roman"/>
            </a:endParaRPr>
          </a:p>
        </p:txBody>
      </p:sp>
      <p:grpSp>
        <p:nvGrpSpPr>
          <p:cNvPr id="4" name="object 4"/>
          <p:cNvGrpSpPr/>
          <p:nvPr/>
        </p:nvGrpSpPr>
        <p:grpSpPr>
          <a:xfrm>
            <a:off x="831989" y="-38"/>
            <a:ext cx="11360150" cy="1735455"/>
            <a:chOff x="831989" y="-38"/>
            <a:chExt cx="11360150" cy="1735455"/>
          </a:xfrm>
        </p:grpSpPr>
        <p:sp>
          <p:nvSpPr>
            <p:cNvPr id="5" name="object 5"/>
            <p:cNvSpPr/>
            <p:nvPr/>
          </p:nvSpPr>
          <p:spPr>
            <a:xfrm>
              <a:off x="10713085" y="-38"/>
              <a:ext cx="1478915" cy="1184910"/>
            </a:xfrm>
            <a:custGeom>
              <a:avLst/>
              <a:gdLst/>
              <a:ahLst/>
              <a:cxnLst/>
              <a:rect l="l" t="t" r="r" b="b"/>
              <a:pathLst>
                <a:path w="1478915" h="1184910">
                  <a:moveTo>
                    <a:pt x="1478915" y="0"/>
                  </a:moveTo>
                  <a:lnTo>
                    <a:pt x="0" y="0"/>
                  </a:lnTo>
                  <a:lnTo>
                    <a:pt x="0" y="1184567"/>
                  </a:lnTo>
                  <a:lnTo>
                    <a:pt x="1478915" y="1184567"/>
                  </a:lnTo>
                  <a:lnTo>
                    <a:pt x="1478915" y="0"/>
                  </a:lnTo>
                  <a:close/>
                </a:path>
              </a:pathLst>
            </a:custGeom>
            <a:solidFill>
              <a:srgbClr val="FFFFFF"/>
            </a:solidFill>
          </p:spPr>
          <p:txBody>
            <a:bodyPr wrap="square" lIns="0" tIns="0" rIns="0" bIns="0" rtlCol="0"/>
            <a:lstStyle/>
            <a:p>
              <a:endParaRPr/>
            </a:p>
          </p:txBody>
        </p:sp>
        <p:pic>
          <p:nvPicPr>
            <p:cNvPr id="6" name="object 6"/>
            <p:cNvPicPr/>
            <p:nvPr/>
          </p:nvPicPr>
          <p:blipFill>
            <a:blip r:embed="rId2" cstate="print"/>
            <a:stretch>
              <a:fillRect/>
            </a:stretch>
          </p:blipFill>
          <p:spPr>
            <a:xfrm>
              <a:off x="831989" y="110617"/>
              <a:ext cx="10214229" cy="162471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4048" y="316814"/>
            <a:ext cx="2266950" cy="514350"/>
          </a:xfrm>
          <a:prstGeom prst="rect">
            <a:avLst/>
          </a:prstGeom>
        </p:spPr>
        <p:txBody>
          <a:bodyPr vert="horz" wrap="square" lIns="0" tIns="13335" rIns="0" bIns="0" rtlCol="0">
            <a:spAutoFit/>
          </a:bodyPr>
          <a:lstStyle/>
          <a:p>
            <a:pPr marL="12700">
              <a:lnSpc>
                <a:spcPct val="100000"/>
              </a:lnSpc>
              <a:spcBef>
                <a:spcPts val="105"/>
              </a:spcBef>
            </a:pPr>
            <a:r>
              <a:rPr sz="3200" spc="-10" dirty="0"/>
              <a:t>CONTENTS</a:t>
            </a:r>
            <a:endParaRPr sz="32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2</a:t>
            </a:fld>
            <a:endParaRPr spc="-25" dirty="0"/>
          </a:p>
        </p:txBody>
      </p:sp>
      <p:sp>
        <p:nvSpPr>
          <p:cNvPr id="3" name="object 3"/>
          <p:cNvSpPr txBox="1"/>
          <p:nvPr/>
        </p:nvSpPr>
        <p:spPr>
          <a:xfrm>
            <a:off x="1100124" y="891071"/>
            <a:ext cx="5980430" cy="4137030"/>
          </a:xfrm>
          <a:prstGeom prst="rect">
            <a:avLst/>
          </a:prstGeom>
        </p:spPr>
        <p:txBody>
          <a:bodyPr vert="horz" wrap="square" lIns="0" tIns="73660" rIns="0" bIns="0" rtlCol="0">
            <a:spAutoFit/>
          </a:bodyPr>
          <a:lstStyle/>
          <a:p>
            <a:pPr marL="514350" indent="-514350" eaLnBrk="1" hangingPunct="1">
              <a:buFont typeface="+mj-lt"/>
              <a:buAutoNum type="romanUcPeriod"/>
            </a:pPr>
            <a:r>
              <a:rPr lang="en-IN" sz="2400" dirty="0">
                <a:latin typeface="Times New Roman" pitchFamily="18" charset="0"/>
                <a:cs typeface="Times New Roman" pitchFamily="18" charset="0"/>
              </a:rPr>
              <a:t>ABSTRACT</a:t>
            </a:r>
          </a:p>
          <a:p>
            <a:pPr marL="514350" indent="-514350" eaLnBrk="1" hangingPunct="1">
              <a:buFont typeface="+mj-lt"/>
              <a:buAutoNum type="romanUcPeriod"/>
            </a:pPr>
            <a:r>
              <a:rPr lang="en-IN" sz="2400" dirty="0">
                <a:latin typeface="Times New Roman" pitchFamily="18" charset="0"/>
                <a:cs typeface="Times New Roman" pitchFamily="18" charset="0"/>
              </a:rPr>
              <a:t>INTRODUCTION</a:t>
            </a:r>
          </a:p>
          <a:p>
            <a:pPr marL="514350" indent="-514350" eaLnBrk="1" hangingPunct="1">
              <a:buFont typeface="+mj-lt"/>
              <a:buAutoNum type="romanUcPeriod"/>
            </a:pPr>
            <a:r>
              <a:rPr lang="en-US" sz="2400" dirty="0">
                <a:latin typeface="Times New Roman" pitchFamily="18" charset="0"/>
                <a:cs typeface="Times New Roman" pitchFamily="18" charset="0"/>
              </a:rPr>
              <a:t>PROBLEM STATEMENT</a:t>
            </a:r>
            <a:endParaRPr lang="en-IN" sz="2400" dirty="0">
              <a:latin typeface="Times New Roman" pitchFamily="18" charset="0"/>
              <a:cs typeface="Times New Roman" pitchFamily="18" charset="0"/>
            </a:endParaRPr>
          </a:p>
          <a:p>
            <a:pPr marL="514350" indent="-514350" eaLnBrk="1" hangingPunct="1">
              <a:buFont typeface="+mj-lt"/>
              <a:buAutoNum type="romanUcPeriod"/>
            </a:pPr>
            <a:r>
              <a:rPr lang="en-IN" sz="2400" dirty="0">
                <a:latin typeface="Times New Roman" pitchFamily="18" charset="0"/>
                <a:cs typeface="Times New Roman" pitchFamily="18" charset="0"/>
              </a:rPr>
              <a:t>PURPOSE</a:t>
            </a:r>
          </a:p>
          <a:p>
            <a:pPr marL="514350" indent="-514350" eaLnBrk="1" hangingPunct="1">
              <a:buFont typeface="+mj-lt"/>
              <a:buAutoNum type="romanUcPeriod"/>
            </a:pPr>
            <a:r>
              <a:rPr lang="en-IN" sz="2400" dirty="0">
                <a:latin typeface="Times New Roman" pitchFamily="18" charset="0"/>
                <a:cs typeface="Times New Roman" pitchFamily="18" charset="0"/>
              </a:rPr>
              <a:t>SCOPE</a:t>
            </a:r>
          </a:p>
          <a:p>
            <a:pPr marL="514350" indent="-514350" eaLnBrk="1" hangingPunct="1">
              <a:buFont typeface="+mj-lt"/>
              <a:buAutoNum type="romanUcPeriod"/>
            </a:pPr>
            <a:r>
              <a:rPr lang="en-IN" sz="2400" dirty="0">
                <a:latin typeface="Times New Roman" pitchFamily="18" charset="0"/>
                <a:cs typeface="Times New Roman" pitchFamily="18" charset="0"/>
              </a:rPr>
              <a:t>OBJECTIVES</a:t>
            </a:r>
          </a:p>
          <a:p>
            <a:pPr marL="514350" indent="-514350" eaLnBrk="1" hangingPunct="1">
              <a:buFont typeface="+mj-lt"/>
              <a:buAutoNum type="romanUcPeriod"/>
            </a:pPr>
            <a:r>
              <a:rPr lang="en-US" sz="2400" dirty="0">
                <a:latin typeface="Times New Roman" pitchFamily="18" charset="0"/>
                <a:cs typeface="Times New Roman" pitchFamily="18" charset="0"/>
              </a:rPr>
              <a:t>LITERATURE SURVEY</a:t>
            </a:r>
          </a:p>
          <a:p>
            <a:pPr marL="514350" indent="-514350" eaLnBrk="1" hangingPunct="1">
              <a:buFont typeface="+mj-lt"/>
              <a:buAutoNum type="romanUcPeriod"/>
            </a:pPr>
            <a:r>
              <a:rPr lang="en-US" sz="2400" dirty="0">
                <a:latin typeface="Times New Roman" pitchFamily="18" charset="0"/>
                <a:cs typeface="Times New Roman" pitchFamily="18" charset="0"/>
              </a:rPr>
              <a:t>METHODOLOGY</a:t>
            </a:r>
          </a:p>
          <a:p>
            <a:pPr eaLnBrk="1" hangingPunct="1"/>
            <a:r>
              <a:rPr lang="en-US" sz="2400" dirty="0">
                <a:latin typeface="Times New Roman" pitchFamily="18" charset="0"/>
                <a:cs typeface="Times New Roman" pitchFamily="18" charset="0"/>
              </a:rPr>
              <a:t>IX.PROJECT PLAN </a:t>
            </a:r>
            <a:endParaRPr lang="en-IN" sz="2400" dirty="0">
              <a:latin typeface="Times New Roman" pitchFamily="18" charset="0"/>
              <a:cs typeface="Times New Roman" pitchFamily="18" charset="0"/>
            </a:endParaRPr>
          </a:p>
          <a:p>
            <a:pPr eaLnBrk="1" hangingPunct="1"/>
            <a:r>
              <a:rPr lang="en-IN" sz="2400" dirty="0">
                <a:latin typeface="Times New Roman" pitchFamily="18" charset="0"/>
                <a:cs typeface="Times New Roman" pitchFamily="18" charset="0"/>
              </a:rPr>
              <a:t>X. BIBLIOGRAPHY</a:t>
            </a:r>
          </a:p>
          <a:p>
            <a:pPr eaLnBrk="1" hangingPunct="1"/>
            <a:r>
              <a:rPr lang="en-IN" sz="2400" dirty="0">
                <a:latin typeface="Times New Roman" pitchFamily="18" charset="0"/>
                <a:cs typeface="Times New Roman" pitchFamily="18" charset="0"/>
              </a:rPr>
              <a:t>XI.CONCLUSION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6506" rIns="0" bIns="0" rtlCol="0">
            <a:spAutoFit/>
          </a:bodyPr>
          <a:lstStyle/>
          <a:p>
            <a:pPr marL="3144520">
              <a:lnSpc>
                <a:spcPct val="100000"/>
              </a:lnSpc>
              <a:spcBef>
                <a:spcPts val="105"/>
              </a:spcBef>
            </a:pPr>
            <a:r>
              <a:rPr sz="3200" spc="-10" dirty="0"/>
              <a:t>ABSTRACT</a:t>
            </a:r>
            <a:endParaRPr sz="32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3</a:t>
            </a:fld>
            <a:endParaRPr spc="-25" dirty="0"/>
          </a:p>
        </p:txBody>
      </p:sp>
      <p:sp>
        <p:nvSpPr>
          <p:cNvPr id="3" name="object 3"/>
          <p:cNvSpPr txBox="1"/>
          <p:nvPr/>
        </p:nvSpPr>
        <p:spPr>
          <a:xfrm>
            <a:off x="1179067" y="1418082"/>
            <a:ext cx="9490710" cy="2884379"/>
          </a:xfrm>
          <a:prstGeom prst="rect">
            <a:avLst/>
          </a:prstGeom>
        </p:spPr>
        <p:txBody>
          <a:bodyPr vert="horz" wrap="square" lIns="0" tIns="12700" rIns="0" bIns="0" rtlCol="0">
            <a:spAutoFit/>
          </a:bodyPr>
          <a:lstStyle/>
          <a:p>
            <a:pPr marL="12700" marR="5080" indent="-1905" algn="just">
              <a:lnSpc>
                <a:spcPct val="150000"/>
              </a:lnSpc>
              <a:spcBef>
                <a:spcPts val="100"/>
              </a:spcBef>
            </a:pPr>
            <a:r>
              <a:rPr lang="en-US" dirty="0"/>
              <a:t>Low-light image enhancement is a challenging problem due to noise, poor visibility, and color distortion. This project proposes a deep learning-based solution using the Dual-Enhancing Dense-</a:t>
            </a:r>
            <a:r>
              <a:rPr lang="en-US" dirty="0" err="1"/>
              <a:t>UNet</a:t>
            </a:r>
            <a:r>
              <a:rPr lang="en-US" dirty="0"/>
              <a:t> (DEDU) architecture. The model enhances brightness and contrast while preserving fine details and reducing noise artifacts. It uses a dual-pathway approach to separately handle structure and detail features. The system outperforms traditional enhancement methods in clarity, texture, and noise suppression.</a:t>
            </a:r>
          </a:p>
          <a:p>
            <a:pPr marL="12700" marR="5080" indent="-1905" algn="just">
              <a:lnSpc>
                <a:spcPct val="150000"/>
              </a:lnSpc>
              <a:spcBef>
                <a:spcPts val="100"/>
              </a:spcBef>
            </a:pPr>
            <a:endParaRPr sz="18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6054" rIns="0" bIns="0" rtlCol="0">
            <a:spAutoFit/>
          </a:bodyPr>
          <a:lstStyle/>
          <a:p>
            <a:pPr marL="2894965">
              <a:lnSpc>
                <a:spcPct val="100000"/>
              </a:lnSpc>
              <a:spcBef>
                <a:spcPts val="105"/>
              </a:spcBef>
            </a:pPr>
            <a:r>
              <a:rPr sz="3200" spc="-10" dirty="0"/>
              <a:t>INTRODUCTION</a:t>
            </a:r>
            <a:endParaRPr sz="320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4</a:t>
            </a:fld>
            <a:endParaRPr spc="-25" dirty="0"/>
          </a:p>
        </p:txBody>
      </p:sp>
      <p:sp>
        <p:nvSpPr>
          <p:cNvPr id="3" name="object 3"/>
          <p:cNvSpPr txBox="1"/>
          <p:nvPr/>
        </p:nvSpPr>
        <p:spPr>
          <a:xfrm>
            <a:off x="1336294" y="1698349"/>
            <a:ext cx="9538970" cy="3159135"/>
          </a:xfrm>
          <a:prstGeom prst="rect">
            <a:avLst/>
          </a:prstGeom>
        </p:spPr>
        <p:txBody>
          <a:bodyPr vert="horz" wrap="square" lIns="0" tIns="12065" rIns="0" bIns="0" rtlCol="0">
            <a:spAutoFit/>
          </a:bodyPr>
          <a:lstStyle/>
          <a:p>
            <a:pPr marL="285750" indent="-285750" algn="just">
              <a:buFont typeface="Arial" pitchFamily="34" charset="0"/>
              <a:buChar char="•"/>
            </a:pPr>
            <a:r>
              <a:rPr lang="en-US" dirty="0"/>
              <a:t>Images captured in low-light conditions often suffer from poor visibility, low contrast, and significant noise.</a:t>
            </a:r>
          </a:p>
          <a:p>
            <a:pPr marL="285750" indent="-285750" algn="just">
              <a:buFont typeface="Arial" pitchFamily="34" charset="0"/>
              <a:buChar char="•"/>
            </a:pPr>
            <a:endParaRPr lang="en-US" dirty="0"/>
          </a:p>
          <a:p>
            <a:pPr marL="285750" indent="-285750" algn="just">
              <a:buFont typeface="Arial" pitchFamily="34" charset="0"/>
              <a:buChar char="•"/>
            </a:pPr>
            <a:r>
              <a:rPr lang="en-US" dirty="0"/>
              <a:t>Traditional enhancement methods like histogram equalization or </a:t>
            </a:r>
            <a:r>
              <a:rPr lang="en-US" dirty="0" err="1"/>
              <a:t>Retinex</a:t>
            </a:r>
            <a:r>
              <a:rPr lang="en-US" dirty="0"/>
              <a:t> often fail to preserve details or introduce artifacts.</a:t>
            </a:r>
          </a:p>
          <a:p>
            <a:pPr marL="285750" indent="-285750" algn="just">
              <a:buFont typeface="Arial" pitchFamily="34" charset="0"/>
              <a:buChar char="•"/>
            </a:pPr>
            <a:endParaRPr lang="en-US" dirty="0"/>
          </a:p>
          <a:p>
            <a:pPr marL="285750" indent="-285750" algn="just">
              <a:buFont typeface="Arial" pitchFamily="34" charset="0"/>
              <a:buChar char="•"/>
            </a:pPr>
            <a:r>
              <a:rPr lang="en-US" dirty="0"/>
              <a:t>Deep learning enables powerful feature extraction and adaptive enhancement.</a:t>
            </a:r>
            <a:endParaRPr lang="en-IN" dirty="0"/>
          </a:p>
          <a:p>
            <a:pPr algn="just"/>
            <a:endParaRPr lang="en-US" dirty="0"/>
          </a:p>
          <a:p>
            <a:pPr marL="285750" indent="-285750" algn="just">
              <a:buFont typeface="Arial" pitchFamily="34" charset="0"/>
              <a:buChar char="•"/>
            </a:pPr>
            <a:r>
              <a:rPr lang="en-US" dirty="0"/>
              <a:t>The proposed DEDU model offers a robust solution for simultaneous enhancement and </a:t>
            </a:r>
            <a:r>
              <a:rPr lang="en-US" dirty="0" err="1"/>
              <a:t>denoising</a:t>
            </a:r>
            <a:endParaRPr lang="en-US" dirty="0"/>
          </a:p>
          <a:p>
            <a:pPr marL="12700" marR="5080" algn="just">
              <a:lnSpc>
                <a:spcPct val="150000"/>
              </a:lnSpc>
              <a:spcBef>
                <a:spcPts val="95"/>
              </a:spcBef>
            </a:pPr>
            <a:r>
              <a:rPr 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5713" y="316814"/>
            <a:ext cx="8640572" cy="767825"/>
          </a:xfrm>
          <a:prstGeom prst="rect">
            <a:avLst/>
          </a:prstGeom>
        </p:spPr>
        <p:txBody>
          <a:bodyPr vert="horz" wrap="square" lIns="0" tIns="272719" rIns="0" bIns="0" rtlCol="0">
            <a:spAutoFit/>
          </a:bodyPr>
          <a:lstStyle/>
          <a:p>
            <a:pPr marL="12700">
              <a:lnSpc>
                <a:spcPct val="100000"/>
              </a:lnSpc>
              <a:spcBef>
                <a:spcPts val="105"/>
              </a:spcBef>
            </a:pPr>
            <a:r>
              <a:rPr sz="3200" dirty="0"/>
              <a:t>PROBLEM</a:t>
            </a:r>
            <a:r>
              <a:rPr lang="en-US" sz="3200" spc="-45" dirty="0"/>
              <a:t> STATEMENT</a:t>
            </a:r>
            <a:endParaRPr sz="32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5</a:t>
            </a:fld>
            <a:endParaRPr spc="-25" dirty="0"/>
          </a:p>
        </p:txBody>
      </p:sp>
      <p:sp>
        <p:nvSpPr>
          <p:cNvPr id="3" name="object 3"/>
          <p:cNvSpPr txBox="1"/>
          <p:nvPr/>
        </p:nvSpPr>
        <p:spPr>
          <a:xfrm>
            <a:off x="1315338" y="1576705"/>
            <a:ext cx="9549765" cy="3299878"/>
          </a:xfrm>
          <a:prstGeom prst="rect">
            <a:avLst/>
          </a:prstGeom>
        </p:spPr>
        <p:txBody>
          <a:bodyPr vert="horz" wrap="square" lIns="0" tIns="12700" rIns="0" bIns="0" rtlCol="0">
            <a:spAutoFit/>
          </a:bodyPr>
          <a:lstStyle/>
          <a:p>
            <a:pPr algn="just">
              <a:lnSpc>
                <a:spcPct val="150000"/>
              </a:lnSpc>
            </a:pPr>
            <a:r>
              <a:rPr lang="en-US" dirty="0"/>
              <a:t>Images captured under low-light conditions often suffer from poor visibility, low contrast, significant noise, and color distortion. These degradations not only reduce visual quality but also negatively impact the performance of computer vision systems used in applications such as surveillance, autonomous driving, and medical imaging. Traditional enhancement techniques struggle to balance brightness improvement with detail preservation and noise reduction. Therefore, there is a critical need for a robust, intelligent, and adaptive method to enhance low-light images while retaining natural appearance and fine details.</a:t>
            </a:r>
          </a:p>
          <a:p>
            <a:pPr marL="12700" marR="5080" algn="just">
              <a:lnSpc>
                <a:spcPct val="150000"/>
              </a:lnSpc>
              <a:spcBef>
                <a:spcPts val="100"/>
              </a:spcBef>
            </a:pPr>
            <a:endParaRPr sz="18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297" y="381000"/>
            <a:ext cx="2220480" cy="661207"/>
          </a:xfrm>
          <a:prstGeom prst="rect">
            <a:avLst/>
          </a:prstGeom>
        </p:spPr>
        <p:txBody>
          <a:bodyPr wrap="none">
            <a:spAutoFit/>
          </a:bodyPr>
          <a:lstStyle/>
          <a:p>
            <a:pPr marL="0" indent="0" algn="just">
              <a:lnSpc>
                <a:spcPct val="150000"/>
              </a:lnSpc>
              <a:buNone/>
            </a:pPr>
            <a:r>
              <a:rPr lang="en-US" sz="2800" b="1" dirty="0">
                <a:latin typeface="Times New Roman" panose="02020603050405020304" pitchFamily="18" charset="0"/>
                <a:cs typeface="Times New Roman" panose="02020603050405020304" pitchFamily="18" charset="0"/>
              </a:rPr>
              <a:t>    PURPOSE</a:t>
            </a:r>
            <a:endParaRPr lang="en-US" dirty="0">
              <a:latin typeface="Times New Roman" panose="02020603050405020304" pitchFamily="18" charset="0"/>
              <a:cs typeface="Times New Roman" panose="02020603050405020304" pitchFamily="18" charset="0"/>
            </a:endParaRPr>
          </a:p>
        </p:txBody>
      </p:sp>
      <p:sp>
        <p:nvSpPr>
          <p:cNvPr id="3" name="Rectangle 2"/>
          <p:cNvSpPr/>
          <p:nvPr/>
        </p:nvSpPr>
        <p:spPr>
          <a:xfrm>
            <a:off x="381000" y="1219200"/>
            <a:ext cx="10363200" cy="3000821"/>
          </a:xfrm>
          <a:prstGeom prst="rect">
            <a:avLst/>
          </a:prstGeom>
        </p:spPr>
        <p:txBody>
          <a:bodyPr wrap="square">
            <a:spAutoFit/>
          </a:bodyPr>
          <a:lstStyle/>
          <a:p>
            <a:pPr>
              <a:lnSpc>
                <a:spcPct val="150000"/>
              </a:lnSpc>
            </a:pPr>
            <a:endParaRPr lang="en-US" b="1" dirty="0"/>
          </a:p>
          <a:p>
            <a:pPr algn="just">
              <a:lnSpc>
                <a:spcPct val="150000"/>
              </a:lnSpc>
              <a:buFont typeface="Arial" panose="020B0604020202020204" pitchFamily="34" charset="0"/>
              <a:buChar char="•"/>
            </a:pPr>
            <a:r>
              <a:rPr lang="en-US" dirty="0"/>
              <a:t>To enhance visibility and visual quality of images captured in low-light environments.</a:t>
            </a:r>
          </a:p>
          <a:p>
            <a:pPr algn="just">
              <a:lnSpc>
                <a:spcPct val="150000"/>
              </a:lnSpc>
              <a:buFont typeface="Arial" panose="020B0604020202020204" pitchFamily="34" charset="0"/>
              <a:buChar char="•"/>
            </a:pPr>
            <a:r>
              <a:rPr lang="en-US" dirty="0"/>
              <a:t>To develop a deep learning-based model (DEDU) that performs both enhancement and </a:t>
            </a:r>
            <a:r>
              <a:rPr lang="en-US" dirty="0" err="1"/>
              <a:t>denoising</a:t>
            </a:r>
            <a:r>
              <a:rPr lang="en-US" dirty="0"/>
              <a:t>.</a:t>
            </a:r>
          </a:p>
          <a:p>
            <a:pPr algn="just">
              <a:lnSpc>
                <a:spcPct val="150000"/>
              </a:lnSpc>
              <a:buFont typeface="Arial" panose="020B0604020202020204" pitchFamily="34" charset="0"/>
              <a:buChar char="•"/>
            </a:pPr>
            <a:r>
              <a:rPr lang="en-US" dirty="0"/>
              <a:t>To improve brightness, contrast, and detail preservation without introducing artifacts.</a:t>
            </a:r>
          </a:p>
          <a:p>
            <a:pPr algn="just">
              <a:lnSpc>
                <a:spcPct val="150000"/>
              </a:lnSpc>
              <a:buFont typeface="Arial" panose="020B0604020202020204" pitchFamily="34" charset="0"/>
              <a:buChar char="•"/>
            </a:pPr>
            <a:r>
              <a:rPr lang="en-US" dirty="0"/>
              <a:t>To outperform traditional image enhancement methods in both quality and efficiency.</a:t>
            </a:r>
          </a:p>
          <a:p>
            <a:pPr algn="just">
              <a:lnSpc>
                <a:spcPct val="150000"/>
              </a:lnSpc>
              <a:buFont typeface="Arial" panose="020B0604020202020204" pitchFamily="34" charset="0"/>
              <a:buChar char="•"/>
            </a:pPr>
            <a:r>
              <a:rPr lang="en-US" dirty="0"/>
              <a:t>To support real-world applications such as mobile photography, surveillance, and autonomous   systems.</a:t>
            </a:r>
          </a:p>
        </p:txBody>
      </p:sp>
    </p:spTree>
    <p:extLst>
      <p:ext uri="{BB962C8B-B14F-4D97-AF65-F5344CB8AC3E}">
        <p14:creationId xmlns:p14="http://schemas.microsoft.com/office/powerpoint/2010/main" val="3929561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609600"/>
            <a:ext cx="2971800" cy="523220"/>
          </a:xfrm>
          <a:prstGeom prst="rect">
            <a:avLst/>
          </a:prstGeom>
          <a:noFill/>
        </p:spPr>
        <p:txBody>
          <a:bodyPr wrap="square" rtlCol="0">
            <a:spAutoFit/>
          </a:bodyPr>
          <a:lstStyle/>
          <a:p>
            <a:r>
              <a:rPr lang="en-US" sz="2800" b="1" dirty="0"/>
              <a:t>SCOPE</a:t>
            </a:r>
          </a:p>
        </p:txBody>
      </p:sp>
      <p:sp>
        <p:nvSpPr>
          <p:cNvPr id="3" name="Rectangle 1"/>
          <p:cNvSpPr>
            <a:spLocks noChangeArrowheads="1"/>
          </p:cNvSpPr>
          <p:nvPr/>
        </p:nvSpPr>
        <p:spPr bwMode="auto">
          <a:xfrm>
            <a:off x="590550" y="1295400"/>
            <a:ext cx="10267554"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Separate handling of structural and texture details using dual-pathway learning.</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Design and implementation of the </a:t>
            </a:r>
            <a:r>
              <a:rPr kumimoji="0" lang="en-US" altLang="en-US" sz="1800" b="1" i="0" u="none" strike="noStrike" cap="none" normalizeH="0" baseline="0" dirty="0">
                <a:ln>
                  <a:noFill/>
                </a:ln>
                <a:solidFill>
                  <a:schemeClr val="tx1"/>
                </a:solidFill>
                <a:effectLst/>
                <a:latin typeface="Arial" panose="020B0604020202020204" pitchFamily="34" charset="0"/>
              </a:rPr>
              <a:t>Dual-Enhancing Dense-</a:t>
            </a:r>
            <a:r>
              <a:rPr kumimoji="0" lang="en-US" altLang="en-US" sz="1800" b="1" i="0" u="none" strike="noStrike" cap="none" normalizeH="0" baseline="0" dirty="0" err="1">
                <a:ln>
                  <a:noFill/>
                </a:ln>
                <a:solidFill>
                  <a:schemeClr val="tx1"/>
                </a:solidFill>
                <a:effectLst/>
                <a:latin typeface="Arial" panose="020B0604020202020204" pitchFamily="34" charset="0"/>
              </a:rPr>
              <a:t>UNet</a:t>
            </a:r>
            <a:r>
              <a:rPr kumimoji="0" lang="en-US" altLang="en-US" sz="1800" b="1" i="0" u="none" strike="noStrike" cap="none" normalizeH="0" baseline="0" dirty="0">
                <a:ln>
                  <a:noFill/>
                </a:ln>
                <a:solidFill>
                  <a:schemeClr val="tx1"/>
                </a:solidFill>
                <a:effectLst/>
                <a:latin typeface="Arial" panose="020B0604020202020204" pitchFamily="34" charset="0"/>
              </a:rPr>
              <a:t> (DEDU)</a:t>
            </a:r>
            <a:r>
              <a:rPr kumimoji="0" lang="en-US" altLang="en-US" sz="1800" b="0" i="0" u="none" strike="noStrike" cap="none" normalizeH="0" baseline="0" dirty="0">
                <a:ln>
                  <a:noFill/>
                </a:ln>
                <a:solidFill>
                  <a:schemeClr val="tx1"/>
                </a:solidFill>
                <a:effectLst/>
                <a:latin typeface="Arial" panose="020B0604020202020204" pitchFamily="34" charset="0"/>
              </a:rPr>
              <a:t> architecture.</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Training and testing on benchmark low-light image datasets.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Evaluation using metrics like PSNR, SSIM, and visual comparison.</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 on image enhancement (not video or real-time deployment).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Intended for deployment in software tools, mobile devices, and embedded systems (future scope).</a:t>
            </a:r>
          </a:p>
        </p:txBody>
      </p:sp>
    </p:spTree>
    <p:extLst>
      <p:ext uri="{BB962C8B-B14F-4D97-AF65-F5344CB8AC3E}">
        <p14:creationId xmlns:p14="http://schemas.microsoft.com/office/powerpoint/2010/main" val="2154456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1" y="437464"/>
            <a:ext cx="5951346" cy="514350"/>
          </a:xfrm>
          <a:prstGeom prst="rect">
            <a:avLst/>
          </a:prstGeom>
        </p:spPr>
        <p:txBody>
          <a:bodyPr vert="horz" wrap="square" lIns="0" tIns="13335" rIns="0" bIns="0" rtlCol="0">
            <a:spAutoFit/>
          </a:bodyPr>
          <a:lstStyle/>
          <a:p>
            <a:pPr marL="12700">
              <a:lnSpc>
                <a:spcPct val="100000"/>
              </a:lnSpc>
              <a:spcBef>
                <a:spcPts val="105"/>
              </a:spcBef>
            </a:pPr>
            <a:r>
              <a:rPr sz="3200" spc="-10" dirty="0"/>
              <a:t>OBJECTIVES</a:t>
            </a:r>
            <a:endParaRPr sz="32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8</a:t>
            </a:fld>
            <a:endParaRPr spc="-25" dirty="0"/>
          </a:p>
        </p:txBody>
      </p:sp>
      <p:sp>
        <p:nvSpPr>
          <p:cNvPr id="3" name="object 3"/>
          <p:cNvSpPr txBox="1"/>
          <p:nvPr/>
        </p:nvSpPr>
        <p:spPr>
          <a:xfrm>
            <a:off x="1302638" y="1447800"/>
            <a:ext cx="9588500" cy="2716769"/>
          </a:xfrm>
          <a:prstGeom prst="rect">
            <a:avLst/>
          </a:prstGeom>
        </p:spPr>
        <p:txBody>
          <a:bodyPr vert="horz" wrap="square" lIns="0" tIns="142875" rIns="0" bIns="0" rtlCol="0">
            <a:spAutoFit/>
          </a:bodyPr>
          <a:lstStyle/>
          <a:p>
            <a:pPr marL="285750" indent="-285750" algn="just">
              <a:buFont typeface="Arial" pitchFamily="34" charset="0"/>
              <a:buChar char="•"/>
            </a:pPr>
            <a:r>
              <a:rPr lang="en-US" sz="2000" dirty="0"/>
              <a:t>Design an effective low-light enhancement model.</a:t>
            </a:r>
          </a:p>
          <a:p>
            <a:pPr marL="285750" indent="-285750" algn="just">
              <a:buFont typeface="Arial" pitchFamily="34" charset="0"/>
              <a:buChar char="•"/>
            </a:pPr>
            <a:endParaRPr lang="en-US" sz="2000" dirty="0"/>
          </a:p>
          <a:p>
            <a:pPr marL="285750" indent="-285750" algn="just">
              <a:buFont typeface="Arial" pitchFamily="34" charset="0"/>
              <a:buChar char="•"/>
            </a:pPr>
            <a:r>
              <a:rPr lang="en-US" sz="2000" dirty="0"/>
              <a:t>Preserve details and reduce noise simultaneously.</a:t>
            </a:r>
          </a:p>
          <a:p>
            <a:pPr marL="285750" indent="-285750" algn="just">
              <a:buFont typeface="Arial" pitchFamily="34" charset="0"/>
              <a:buChar char="•"/>
            </a:pPr>
            <a:endParaRPr lang="en-US" sz="2000" dirty="0"/>
          </a:p>
          <a:p>
            <a:pPr marL="285750" indent="-285750" algn="just">
              <a:buFont typeface="Arial" pitchFamily="34" charset="0"/>
              <a:buChar char="•"/>
            </a:pPr>
            <a:r>
              <a:rPr lang="en-US" sz="2000" dirty="0"/>
              <a:t>Ensure minimal artifacts and realistic color balance</a:t>
            </a:r>
          </a:p>
          <a:p>
            <a:pPr marL="285750" indent="-285750" algn="just">
              <a:buFont typeface="Arial" pitchFamily="34" charset="0"/>
              <a:buChar char="•"/>
            </a:pPr>
            <a:endParaRPr lang="en-US" sz="2000" dirty="0"/>
          </a:p>
          <a:p>
            <a:pPr marL="285750" indent="-285750" algn="just">
              <a:buFont typeface="Arial" pitchFamily="34" charset="0"/>
              <a:buChar char="•"/>
            </a:pPr>
            <a:r>
              <a:rPr lang="en-US" sz="2000" dirty="0"/>
              <a:t>Validate performance using standard metrics like PSNR and SSIM.</a:t>
            </a:r>
          </a:p>
          <a:p>
            <a:pPr marL="117475">
              <a:lnSpc>
                <a:spcPct val="100000"/>
              </a:lnSpc>
              <a:spcBef>
                <a:spcPts val="1125"/>
              </a:spcBef>
            </a:pPr>
            <a:endParaRPr sz="18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61210859"/>
              </p:ext>
            </p:extLst>
          </p:nvPr>
        </p:nvGraphicFramePr>
        <p:xfrm>
          <a:off x="457200" y="990600"/>
          <a:ext cx="9753600" cy="5394960"/>
        </p:xfrm>
        <a:graphic>
          <a:graphicData uri="http://schemas.openxmlformats.org/drawingml/2006/table">
            <a:tbl>
              <a:tblPr firstRow="1" bandRow="1">
                <a:tableStyleId>{5C22544A-7EE6-4342-B048-85BDC9FD1C3A}</a:tableStyleId>
              </a:tblPr>
              <a:tblGrid>
                <a:gridCol w="858317">
                  <a:extLst>
                    <a:ext uri="{9D8B030D-6E8A-4147-A177-3AD203B41FA5}">
                      <a16:colId xmlns:a16="http://schemas.microsoft.com/office/drawing/2014/main" val="20000"/>
                    </a:ext>
                  </a:extLst>
                </a:gridCol>
                <a:gridCol w="3637483">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289560">
                <a:tc>
                  <a:txBody>
                    <a:bodyPr/>
                    <a:lstStyle/>
                    <a:p>
                      <a:r>
                        <a:rPr lang="en-US" dirty="0"/>
                        <a:t>Sl. No.</a:t>
                      </a:r>
                    </a:p>
                  </a:txBody>
                  <a:tcPr anchor="ctr"/>
                </a:tc>
                <a:tc>
                  <a:txBody>
                    <a:bodyPr/>
                    <a:lstStyle/>
                    <a:p>
                      <a:r>
                        <a:rPr lang="en-US" dirty="0"/>
                        <a:t>Title &amp; Year of Publication</a:t>
                      </a:r>
                    </a:p>
                  </a:txBody>
                  <a:tcPr anchor="ctr"/>
                </a:tc>
                <a:tc>
                  <a:txBody>
                    <a:bodyPr/>
                    <a:lstStyle/>
                    <a:p>
                      <a:r>
                        <a:rPr lang="en-US"/>
                        <a:t>Methodology Used</a:t>
                      </a:r>
                    </a:p>
                  </a:txBody>
                  <a:tcPr anchor="ctr"/>
                </a:tc>
                <a:tc>
                  <a:txBody>
                    <a:bodyPr/>
                    <a:lstStyle/>
                    <a:p>
                      <a:r>
                        <a:rPr lang="en-US"/>
                        <a:t>Limitations</a:t>
                      </a:r>
                    </a:p>
                  </a:txBody>
                  <a:tcPr anchor="ctr"/>
                </a:tc>
                <a:extLst>
                  <a:ext uri="{0D108BD9-81ED-4DB2-BD59-A6C34878D82A}">
                    <a16:rowId xmlns:a16="http://schemas.microsoft.com/office/drawing/2014/main" val="10000"/>
                  </a:ext>
                </a:extLst>
              </a:tr>
              <a:tr h="1158240">
                <a:tc>
                  <a:txBody>
                    <a:bodyPr/>
                    <a:lstStyle/>
                    <a:p>
                      <a:r>
                        <a:rPr lang="en-US"/>
                        <a:t>1</a:t>
                      </a:r>
                    </a:p>
                  </a:txBody>
                  <a:tcPr anchor="ctr"/>
                </a:tc>
                <a:tc>
                  <a:txBody>
                    <a:bodyPr/>
                    <a:lstStyle/>
                    <a:p>
                      <a:r>
                        <a:rPr lang="en-US" i="1" dirty="0"/>
                        <a:t>Low-Light Image Enhancement by Principal Component Analysis</a:t>
                      </a:r>
                      <a:r>
                        <a:rPr lang="en-US" dirty="0"/>
                        <a:t> (2018) </a:t>
                      </a:r>
                    </a:p>
                  </a:txBody>
                  <a:tcPr anchor="ctr"/>
                </a:tc>
                <a:tc>
                  <a:txBody>
                    <a:bodyPr/>
                    <a:lstStyle/>
                    <a:p>
                      <a:r>
                        <a:rPr lang="en-US"/>
                        <a:t>PCA-based enhancement using feature projection to improve brightness and contrast</a:t>
                      </a:r>
                    </a:p>
                  </a:txBody>
                  <a:tcPr anchor="ctr"/>
                </a:tc>
                <a:tc>
                  <a:txBody>
                    <a:bodyPr/>
                    <a:lstStyle/>
                    <a:p>
                      <a:r>
                        <a:rPr lang="en-US"/>
                        <a:t>Lacks adaptive learning and fails in preserving texture under complex lighting</a:t>
                      </a:r>
                    </a:p>
                  </a:txBody>
                  <a:tcPr anchor="ctr"/>
                </a:tc>
                <a:extLst>
                  <a:ext uri="{0D108BD9-81ED-4DB2-BD59-A6C34878D82A}">
                    <a16:rowId xmlns:a16="http://schemas.microsoft.com/office/drawing/2014/main" val="10001"/>
                  </a:ext>
                </a:extLst>
              </a:tr>
              <a:tr h="1375410">
                <a:tc>
                  <a:txBody>
                    <a:bodyPr/>
                    <a:lstStyle/>
                    <a:p>
                      <a:r>
                        <a:rPr lang="en-US" dirty="0"/>
                        <a:t>2</a:t>
                      </a:r>
                    </a:p>
                  </a:txBody>
                  <a:tcPr anchor="ctr"/>
                </a:tc>
                <a:tc>
                  <a:txBody>
                    <a:bodyPr/>
                    <a:lstStyle/>
                    <a:p>
                      <a:r>
                        <a:rPr lang="en-US" i="1" dirty="0"/>
                        <a:t>Single-Stage Unsupervised </a:t>
                      </a:r>
                      <a:r>
                        <a:rPr lang="en-US" i="1" dirty="0" err="1"/>
                        <a:t>Denoising</a:t>
                      </a:r>
                      <a:r>
                        <a:rPr lang="en-US" i="1" dirty="0"/>
                        <a:t> Low-Illumination Enhancement using </a:t>
                      </a:r>
                      <a:r>
                        <a:rPr lang="en-US" i="1" dirty="0" err="1"/>
                        <a:t>Swin</a:t>
                      </a:r>
                      <a:r>
                        <a:rPr lang="en-US" i="1" dirty="0"/>
                        <a:t> Transformer</a:t>
                      </a:r>
                      <a:r>
                        <a:rPr lang="en-US" dirty="0"/>
                        <a:t> (2023) </a:t>
                      </a:r>
                    </a:p>
                  </a:txBody>
                  <a:tcPr anchor="ctr"/>
                </a:tc>
                <a:tc>
                  <a:txBody>
                    <a:bodyPr/>
                    <a:lstStyle/>
                    <a:p>
                      <a:r>
                        <a:rPr lang="en-US"/>
                        <a:t>Swin Transformer-based unsupervised model for enhancement and denoising without paired training data</a:t>
                      </a:r>
                    </a:p>
                  </a:txBody>
                  <a:tcPr anchor="ctr"/>
                </a:tc>
                <a:tc>
                  <a:txBody>
                    <a:bodyPr/>
                    <a:lstStyle/>
                    <a:p>
                      <a:r>
                        <a:rPr lang="en-US"/>
                        <a:t>High computational cost, limiting real-time edge deployment</a:t>
                      </a:r>
                    </a:p>
                  </a:txBody>
                  <a:tcPr anchor="ctr"/>
                </a:tc>
                <a:extLst>
                  <a:ext uri="{0D108BD9-81ED-4DB2-BD59-A6C34878D82A}">
                    <a16:rowId xmlns:a16="http://schemas.microsoft.com/office/drawing/2014/main" val="10002"/>
                  </a:ext>
                </a:extLst>
              </a:tr>
              <a:tr h="941070">
                <a:tc>
                  <a:txBody>
                    <a:bodyPr/>
                    <a:lstStyle/>
                    <a:p>
                      <a:r>
                        <a:rPr lang="en-US"/>
                        <a:t>3</a:t>
                      </a:r>
                    </a:p>
                  </a:txBody>
                  <a:tcPr anchor="ctr"/>
                </a:tc>
                <a:tc>
                  <a:txBody>
                    <a:bodyPr/>
                    <a:lstStyle/>
                    <a:p>
                      <a:r>
                        <a:rPr lang="en-US" i="1" dirty="0"/>
                        <a:t>Cross-Image Disentanglement for Low-Light Enhancement in Real World</a:t>
                      </a:r>
                      <a:r>
                        <a:rPr lang="en-US" dirty="0"/>
                        <a:t> (2022)</a:t>
                      </a:r>
                    </a:p>
                  </a:txBody>
                  <a:tcPr anchor="ctr"/>
                </a:tc>
                <a:tc>
                  <a:txBody>
                    <a:bodyPr/>
                    <a:lstStyle/>
                    <a:p>
                      <a:r>
                        <a:rPr lang="en-US"/>
                        <a:t>Disentangling illumination and content features via unpaired learning</a:t>
                      </a:r>
                    </a:p>
                  </a:txBody>
                  <a:tcPr anchor="ctr"/>
                </a:tc>
                <a:tc>
                  <a:txBody>
                    <a:bodyPr/>
                    <a:lstStyle/>
                    <a:p>
                      <a:r>
                        <a:rPr lang="en-US"/>
                        <a:t>Requires complex training and fine-tuning for effective generalization</a:t>
                      </a:r>
                    </a:p>
                  </a:txBody>
                  <a:tcPr anchor="ctr"/>
                </a:tc>
                <a:extLst>
                  <a:ext uri="{0D108BD9-81ED-4DB2-BD59-A6C34878D82A}">
                    <a16:rowId xmlns:a16="http://schemas.microsoft.com/office/drawing/2014/main" val="10003"/>
                  </a:ext>
                </a:extLst>
              </a:tr>
              <a:tr h="1158240">
                <a:tc>
                  <a:txBody>
                    <a:bodyPr/>
                    <a:lstStyle/>
                    <a:p>
                      <a:r>
                        <a:rPr lang="en-US" dirty="0"/>
                        <a:t>4</a:t>
                      </a:r>
                    </a:p>
                  </a:txBody>
                  <a:tcPr anchor="ctr"/>
                </a:tc>
                <a:tc>
                  <a:txBody>
                    <a:bodyPr/>
                    <a:lstStyle/>
                    <a:p>
                      <a:r>
                        <a:rPr lang="en-US" i="1" dirty="0"/>
                        <a:t>DEDU: Dual-Enhancing Dense-</a:t>
                      </a:r>
                      <a:r>
                        <a:rPr lang="en-US" i="1" dirty="0" err="1"/>
                        <a:t>UNet</a:t>
                      </a:r>
                      <a:r>
                        <a:rPr lang="en-US" i="1" dirty="0"/>
                        <a:t> for Lowlight Image Enhancement and </a:t>
                      </a:r>
                      <a:r>
                        <a:rPr lang="en-US" i="1" dirty="0" err="1"/>
                        <a:t>Denoise</a:t>
                      </a:r>
                      <a:r>
                        <a:rPr lang="en-US" dirty="0"/>
                        <a:t> (2024) </a:t>
                      </a:r>
                    </a:p>
                  </a:txBody>
                  <a:tcPr anchor="ctr"/>
                </a:tc>
                <a:tc>
                  <a:txBody>
                    <a:bodyPr/>
                    <a:lstStyle/>
                    <a:p>
                      <a:r>
                        <a:rPr lang="en-US"/>
                        <a:t>Dual-pathway Dense UNet separating structure and detail features for robust enhancement</a:t>
                      </a:r>
                    </a:p>
                  </a:txBody>
                  <a:tcPr anchor="ctr"/>
                </a:tc>
                <a:tc>
                  <a:txBody>
                    <a:bodyPr/>
                    <a:lstStyle/>
                    <a:p>
                      <a:r>
                        <a:rPr lang="en-US" dirty="0"/>
                        <a:t>Higher model complexity and increased training time</a:t>
                      </a:r>
                    </a:p>
                  </a:txBody>
                  <a:tcPr anchor="ctr"/>
                </a:tc>
                <a:extLst>
                  <a:ext uri="{0D108BD9-81ED-4DB2-BD59-A6C34878D82A}">
                    <a16:rowId xmlns:a16="http://schemas.microsoft.com/office/drawing/2014/main" val="10004"/>
                  </a:ext>
                </a:extLst>
              </a:tr>
            </a:tbl>
          </a:graphicData>
        </a:graphic>
      </p:graphicFrame>
      <p:sp>
        <p:nvSpPr>
          <p:cNvPr id="3" name="TextBox 2"/>
          <p:cNvSpPr txBox="1"/>
          <p:nvPr/>
        </p:nvSpPr>
        <p:spPr>
          <a:xfrm>
            <a:off x="2133600" y="228600"/>
            <a:ext cx="4572000" cy="461665"/>
          </a:xfrm>
          <a:prstGeom prst="rect">
            <a:avLst/>
          </a:prstGeom>
          <a:noFill/>
        </p:spPr>
        <p:txBody>
          <a:bodyPr wrap="square" rtlCol="0">
            <a:spAutoFit/>
          </a:bodyPr>
          <a:lstStyle/>
          <a:p>
            <a:r>
              <a:rPr lang="en-US" sz="2400" b="1" dirty="0"/>
              <a:t>Literature Survey</a:t>
            </a:r>
          </a:p>
        </p:txBody>
      </p:sp>
    </p:spTree>
    <p:extLst>
      <p:ext uri="{BB962C8B-B14F-4D97-AF65-F5344CB8AC3E}">
        <p14:creationId xmlns:p14="http://schemas.microsoft.com/office/powerpoint/2010/main" val="119114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2742165100"/>
              </p:ext>
            </p:extLst>
          </p:nvPr>
        </p:nvGraphicFramePr>
        <p:xfrm>
          <a:off x="152400" y="838200"/>
          <a:ext cx="10668000" cy="5791201"/>
        </p:xfrm>
        <a:graphic>
          <a:graphicData uri="http://schemas.openxmlformats.org/drawingml/2006/table">
            <a:tbl>
              <a:tblPr firstRow="1" bandRow="1">
                <a:tableStyleId>{5C22544A-7EE6-4342-B048-85BDC9FD1C3A}</a:tableStyleId>
              </a:tblPr>
              <a:tblGrid>
                <a:gridCol w="938786">
                  <a:extLst>
                    <a:ext uri="{9D8B030D-6E8A-4147-A177-3AD203B41FA5}">
                      <a16:colId xmlns:a16="http://schemas.microsoft.com/office/drawing/2014/main" val="20000"/>
                    </a:ext>
                  </a:extLst>
                </a:gridCol>
                <a:gridCol w="3978496">
                  <a:extLst>
                    <a:ext uri="{9D8B030D-6E8A-4147-A177-3AD203B41FA5}">
                      <a16:colId xmlns:a16="http://schemas.microsoft.com/office/drawing/2014/main" val="20001"/>
                    </a:ext>
                  </a:extLst>
                </a:gridCol>
                <a:gridCol w="3083718">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373626">
                <a:tc>
                  <a:txBody>
                    <a:bodyPr/>
                    <a:lstStyle/>
                    <a:p>
                      <a:r>
                        <a:rPr lang="en-US" dirty="0"/>
                        <a:t>Sl. No.</a:t>
                      </a:r>
                    </a:p>
                  </a:txBody>
                  <a:tcPr anchor="ctr"/>
                </a:tc>
                <a:tc>
                  <a:txBody>
                    <a:bodyPr/>
                    <a:lstStyle/>
                    <a:p>
                      <a:r>
                        <a:rPr lang="en-US"/>
                        <a:t>Title &amp; Year of Publication</a:t>
                      </a:r>
                    </a:p>
                  </a:txBody>
                  <a:tcPr anchor="ctr"/>
                </a:tc>
                <a:tc>
                  <a:txBody>
                    <a:bodyPr/>
                    <a:lstStyle/>
                    <a:p>
                      <a:r>
                        <a:rPr lang="en-US"/>
                        <a:t>Methodology Used</a:t>
                      </a:r>
                    </a:p>
                  </a:txBody>
                  <a:tcPr anchor="ctr"/>
                </a:tc>
                <a:tc>
                  <a:txBody>
                    <a:bodyPr/>
                    <a:lstStyle/>
                    <a:p>
                      <a:r>
                        <a:rPr lang="en-US"/>
                        <a:t>Limitations</a:t>
                      </a:r>
                    </a:p>
                  </a:txBody>
                  <a:tcPr anchor="ctr"/>
                </a:tc>
                <a:extLst>
                  <a:ext uri="{0D108BD9-81ED-4DB2-BD59-A6C34878D82A}">
                    <a16:rowId xmlns:a16="http://schemas.microsoft.com/office/drawing/2014/main" val="10000"/>
                  </a:ext>
                </a:extLst>
              </a:tr>
              <a:tr h="1214284">
                <a:tc>
                  <a:txBody>
                    <a:bodyPr/>
                    <a:lstStyle/>
                    <a:p>
                      <a:r>
                        <a:rPr lang="en-US"/>
                        <a:t>5</a:t>
                      </a:r>
                    </a:p>
                  </a:txBody>
                  <a:tcPr anchor="ctr"/>
                </a:tc>
                <a:tc>
                  <a:txBody>
                    <a:bodyPr/>
                    <a:lstStyle/>
                    <a:p>
                      <a:r>
                        <a:rPr lang="en-US" i="1" dirty="0" err="1"/>
                        <a:t>DLDiff</a:t>
                      </a:r>
                      <a:r>
                        <a:rPr lang="en-US" i="1" dirty="0"/>
                        <a:t>: Image Detail-Guided Latent Diffusion Model for Low-Light Image Enhancement</a:t>
                      </a:r>
                      <a:r>
                        <a:rPr lang="en-US" dirty="0"/>
                        <a:t> (2023) </a:t>
                      </a:r>
                    </a:p>
                  </a:txBody>
                  <a:tcPr anchor="ctr"/>
                </a:tc>
                <a:tc>
                  <a:txBody>
                    <a:bodyPr/>
                    <a:lstStyle/>
                    <a:p>
                      <a:r>
                        <a:rPr lang="en-US"/>
                        <a:t>Uses latent diffusion guided by image details to enhance low-light images progressively</a:t>
                      </a:r>
                    </a:p>
                  </a:txBody>
                  <a:tcPr anchor="ctr"/>
                </a:tc>
                <a:tc>
                  <a:txBody>
                    <a:bodyPr/>
                    <a:lstStyle/>
                    <a:p>
                      <a:r>
                        <a:rPr lang="en-US"/>
                        <a:t>Computationally expensive; slower inference makes it less suitable for real-time use</a:t>
                      </a:r>
                    </a:p>
                  </a:txBody>
                  <a:tcPr anchor="ctr"/>
                </a:tc>
                <a:extLst>
                  <a:ext uri="{0D108BD9-81ED-4DB2-BD59-A6C34878D82A}">
                    <a16:rowId xmlns:a16="http://schemas.microsoft.com/office/drawing/2014/main" val="10001"/>
                  </a:ext>
                </a:extLst>
              </a:tr>
              <a:tr h="1214284">
                <a:tc>
                  <a:txBody>
                    <a:bodyPr/>
                    <a:lstStyle/>
                    <a:p>
                      <a:r>
                        <a:rPr lang="en-US" dirty="0"/>
                        <a:t>6</a:t>
                      </a:r>
                    </a:p>
                  </a:txBody>
                  <a:tcPr anchor="ctr"/>
                </a:tc>
                <a:tc>
                  <a:txBody>
                    <a:bodyPr/>
                    <a:lstStyle/>
                    <a:p>
                      <a:r>
                        <a:rPr lang="en-US" i="1" dirty="0"/>
                        <a:t>Ghost Imaging in the Dark: A Multi-Illumination Estimation Network for Low-Light Image Enhancement</a:t>
                      </a:r>
                      <a:r>
                        <a:rPr lang="en-US" dirty="0"/>
                        <a:t> (2023) </a:t>
                      </a:r>
                    </a:p>
                  </a:txBody>
                  <a:tcPr anchor="ctr"/>
                </a:tc>
                <a:tc>
                  <a:txBody>
                    <a:bodyPr/>
                    <a:lstStyle/>
                    <a:p>
                      <a:r>
                        <a:rPr lang="en-US"/>
                        <a:t>Employs ghost imaging principles and multiple illumination estimations to enhance scene visibility</a:t>
                      </a:r>
                    </a:p>
                  </a:txBody>
                  <a:tcPr anchor="ctr"/>
                </a:tc>
                <a:tc>
                  <a:txBody>
                    <a:bodyPr/>
                    <a:lstStyle/>
                    <a:p>
                      <a:r>
                        <a:rPr lang="en-US"/>
                        <a:t>May introduce latency and perform poorly in extremely low-light or noisy conditions</a:t>
                      </a:r>
                    </a:p>
                  </a:txBody>
                  <a:tcPr anchor="ctr"/>
                </a:tc>
                <a:extLst>
                  <a:ext uri="{0D108BD9-81ED-4DB2-BD59-A6C34878D82A}">
                    <a16:rowId xmlns:a16="http://schemas.microsoft.com/office/drawing/2014/main" val="10002"/>
                  </a:ext>
                </a:extLst>
              </a:tr>
              <a:tr h="1214284">
                <a:tc>
                  <a:txBody>
                    <a:bodyPr/>
                    <a:lstStyle/>
                    <a:p>
                      <a:r>
                        <a:rPr lang="en-US"/>
                        <a:t>7</a:t>
                      </a:r>
                    </a:p>
                  </a:txBody>
                  <a:tcPr anchor="ctr"/>
                </a:tc>
                <a:tc>
                  <a:txBody>
                    <a:bodyPr/>
                    <a:lstStyle/>
                    <a:p>
                      <a:r>
                        <a:rPr lang="en-US" i="1" dirty="0"/>
                        <a:t>Self-Supervision via Controlled Transformation and Unpaired Self-Conditioning for Low-Light Image Enhancement</a:t>
                      </a:r>
                      <a:r>
                        <a:rPr lang="en-US" dirty="0"/>
                        <a:t> (2023)</a:t>
                      </a:r>
                    </a:p>
                  </a:txBody>
                  <a:tcPr anchor="ctr"/>
                </a:tc>
                <a:tc>
                  <a:txBody>
                    <a:bodyPr/>
                    <a:lstStyle/>
                    <a:p>
                      <a:r>
                        <a:rPr lang="en-US"/>
                        <a:t>Trains the model without paired data using controlled transformations and self-conditioning</a:t>
                      </a:r>
                    </a:p>
                  </a:txBody>
                  <a:tcPr anchor="ctr"/>
                </a:tc>
                <a:tc>
                  <a:txBody>
                    <a:bodyPr/>
                    <a:lstStyle/>
                    <a:p>
                      <a:r>
                        <a:rPr lang="en-US"/>
                        <a:t>Might be less effective in highly diverse real-world settings without additional fine-tuning</a:t>
                      </a:r>
                    </a:p>
                  </a:txBody>
                  <a:tcPr anchor="ctr"/>
                </a:tc>
                <a:extLst>
                  <a:ext uri="{0D108BD9-81ED-4DB2-BD59-A6C34878D82A}">
                    <a16:rowId xmlns:a16="http://schemas.microsoft.com/office/drawing/2014/main" val="10003"/>
                  </a:ext>
                </a:extLst>
              </a:tr>
              <a:tr h="1774723">
                <a:tc>
                  <a:txBody>
                    <a:bodyPr/>
                    <a:lstStyle/>
                    <a:p>
                      <a:r>
                        <a:rPr lang="en-US"/>
                        <a:t>8</a:t>
                      </a:r>
                    </a:p>
                  </a:txBody>
                  <a:tcPr anchor="ctr"/>
                </a:tc>
                <a:tc>
                  <a:txBody>
                    <a:bodyPr/>
                    <a:lstStyle/>
                    <a:p>
                      <a:r>
                        <a:rPr lang="en-US" i="1" dirty="0"/>
                        <a:t>LRT: An Efficient Low-Light Restoration Transformer for Dark Light Field Images</a:t>
                      </a:r>
                      <a:r>
                        <a:rPr lang="en-US" dirty="0"/>
                        <a:t> (2023)</a:t>
                      </a:r>
                    </a:p>
                  </a:txBody>
                  <a:tcPr anchor="ctr"/>
                </a:tc>
                <a:tc>
                  <a:txBody>
                    <a:bodyPr/>
                    <a:lstStyle/>
                    <a:p>
                      <a:r>
                        <a:rPr lang="en-US"/>
                        <a:t>Applies Transformer-based restoration specifically for dark light field images using attention mechanisms</a:t>
                      </a:r>
                    </a:p>
                  </a:txBody>
                  <a:tcPr anchor="ctr"/>
                </a:tc>
                <a:tc>
                  <a:txBody>
                    <a:bodyPr/>
                    <a:lstStyle/>
                    <a:p>
                      <a:r>
                        <a:rPr lang="en-US" dirty="0"/>
                        <a:t>Demands high GPU memory and compute power, making it impractical for deployment on low-resource devices</a:t>
                      </a:r>
                    </a:p>
                  </a:txBody>
                  <a:tcPr anchor="ctr"/>
                </a:tc>
                <a:extLst>
                  <a:ext uri="{0D108BD9-81ED-4DB2-BD59-A6C34878D82A}">
                    <a16:rowId xmlns:a16="http://schemas.microsoft.com/office/drawing/2014/main" val="10004"/>
                  </a:ext>
                </a:extLst>
              </a:tr>
            </a:tbl>
          </a:graphicData>
        </a:graphic>
      </p:graphicFrame>
      <p:sp>
        <p:nvSpPr>
          <p:cNvPr id="9" name="TextBox 8"/>
          <p:cNvSpPr txBox="1"/>
          <p:nvPr/>
        </p:nvSpPr>
        <p:spPr>
          <a:xfrm>
            <a:off x="1676400" y="128885"/>
            <a:ext cx="4572000" cy="461665"/>
          </a:xfrm>
          <a:prstGeom prst="rect">
            <a:avLst/>
          </a:prstGeom>
          <a:noFill/>
        </p:spPr>
        <p:txBody>
          <a:bodyPr wrap="square" rtlCol="0">
            <a:spAutoFit/>
          </a:bodyPr>
          <a:lstStyle/>
          <a:p>
            <a:r>
              <a:rPr lang="en-US" sz="2400" b="1" dirty="0"/>
              <a:t>Literature Survey</a:t>
            </a:r>
          </a:p>
        </p:txBody>
      </p:sp>
    </p:spTree>
    <p:extLst>
      <p:ext uri="{BB962C8B-B14F-4D97-AF65-F5344CB8AC3E}">
        <p14:creationId xmlns:p14="http://schemas.microsoft.com/office/powerpoint/2010/main" val="2545613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1" y="332943"/>
            <a:ext cx="6793992" cy="514350"/>
          </a:xfrm>
          <a:prstGeom prst="rect">
            <a:avLst/>
          </a:prstGeom>
        </p:spPr>
        <p:txBody>
          <a:bodyPr vert="horz" wrap="square" lIns="0" tIns="13335" rIns="0" bIns="0" rtlCol="0">
            <a:spAutoFit/>
          </a:bodyPr>
          <a:lstStyle/>
          <a:p>
            <a:pPr marL="12700">
              <a:lnSpc>
                <a:spcPct val="100000"/>
              </a:lnSpc>
              <a:spcBef>
                <a:spcPts val="105"/>
              </a:spcBef>
            </a:pPr>
            <a:r>
              <a:rPr sz="3200" spc="-10" dirty="0"/>
              <a:t>METHODOLOGY</a:t>
            </a:r>
            <a:endParaRPr sz="32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11</a:t>
            </a:fld>
            <a:endParaRPr spc="-25" dirty="0"/>
          </a:p>
        </p:txBody>
      </p:sp>
      <p:sp>
        <p:nvSpPr>
          <p:cNvPr id="3" name="object 3"/>
          <p:cNvSpPr txBox="1"/>
          <p:nvPr/>
        </p:nvSpPr>
        <p:spPr>
          <a:xfrm>
            <a:off x="1317116" y="995252"/>
            <a:ext cx="9559925" cy="4181273"/>
          </a:xfrm>
          <a:prstGeom prst="rect">
            <a:avLst/>
          </a:prstGeom>
        </p:spPr>
        <p:txBody>
          <a:bodyPr vert="horz" wrap="square" lIns="0" tIns="13335" rIns="0" bIns="0" rtlCol="0">
            <a:spAutoFit/>
          </a:bodyPr>
          <a:lstStyle/>
          <a:p>
            <a:pPr marL="342900" indent="-342900" algn="just">
              <a:buFont typeface="Arial" pitchFamily="34" charset="0"/>
              <a:buChar char="•"/>
            </a:pPr>
            <a:r>
              <a:rPr lang="en-IN" sz="2000" b="1" dirty="0"/>
              <a:t>Model</a:t>
            </a:r>
            <a:r>
              <a:rPr lang="en-IN" sz="2000" dirty="0"/>
              <a:t>: Dual-Enhancing Dense-</a:t>
            </a:r>
            <a:r>
              <a:rPr lang="en-IN" sz="2000" dirty="0" err="1"/>
              <a:t>UNet</a:t>
            </a:r>
            <a:r>
              <a:rPr lang="en-IN" sz="2000" dirty="0"/>
              <a:t> (DEDU)</a:t>
            </a:r>
          </a:p>
          <a:p>
            <a:pPr marL="342900" indent="-342900" algn="just">
              <a:buFont typeface="Arial" pitchFamily="34" charset="0"/>
              <a:buChar char="•"/>
            </a:pPr>
            <a:endParaRPr lang="en-IN" sz="2000" dirty="0"/>
          </a:p>
          <a:p>
            <a:pPr marL="342900" indent="-342900" algn="just">
              <a:lnSpc>
                <a:spcPct val="150000"/>
              </a:lnSpc>
              <a:buFont typeface="Arial" pitchFamily="34" charset="0"/>
              <a:buChar char="•"/>
            </a:pPr>
            <a:r>
              <a:rPr lang="en-IN" sz="2000" b="1" dirty="0"/>
              <a:t>Components</a:t>
            </a:r>
            <a:r>
              <a:rPr lang="en-IN" sz="2000" dirty="0"/>
              <a:t>:</a:t>
            </a:r>
          </a:p>
          <a:p>
            <a:pPr algn="just">
              <a:lnSpc>
                <a:spcPct val="150000"/>
              </a:lnSpc>
            </a:pPr>
            <a:r>
              <a:rPr lang="en-IN" sz="2000" dirty="0"/>
              <a:t>              Encoder-Decoder framework</a:t>
            </a:r>
          </a:p>
          <a:p>
            <a:pPr algn="just">
              <a:lnSpc>
                <a:spcPct val="150000"/>
              </a:lnSpc>
            </a:pPr>
            <a:r>
              <a:rPr lang="en-IN" sz="2000" dirty="0"/>
              <a:t>              Two branches: Structure and Detail enhancement</a:t>
            </a:r>
          </a:p>
          <a:p>
            <a:pPr algn="just">
              <a:lnSpc>
                <a:spcPct val="150000"/>
              </a:lnSpc>
            </a:pPr>
            <a:r>
              <a:rPr lang="en-IN" sz="2000" dirty="0"/>
              <a:t>              Dense blocks and attention modules</a:t>
            </a:r>
          </a:p>
          <a:p>
            <a:pPr algn="just"/>
            <a:endParaRPr lang="en-IN" sz="2000" dirty="0"/>
          </a:p>
          <a:p>
            <a:pPr marL="342900" indent="-342900" algn="just">
              <a:buFont typeface="Arial" pitchFamily="34" charset="0"/>
              <a:buChar char="•"/>
            </a:pPr>
            <a:r>
              <a:rPr lang="en-IN" sz="2000" b="1" dirty="0"/>
              <a:t>Training</a:t>
            </a:r>
            <a:r>
              <a:rPr lang="en-IN" sz="2000" dirty="0"/>
              <a:t>: Supervised training on low-light datasets with synthetic noise.</a:t>
            </a:r>
          </a:p>
          <a:p>
            <a:pPr marL="342900" indent="-342900" algn="just">
              <a:buFont typeface="Arial" pitchFamily="34" charset="0"/>
              <a:buChar char="•"/>
            </a:pPr>
            <a:endParaRPr lang="en-IN" sz="2000" dirty="0"/>
          </a:p>
          <a:p>
            <a:pPr marL="342900" indent="-342900" algn="just">
              <a:buFont typeface="Arial" pitchFamily="34" charset="0"/>
              <a:buChar char="•"/>
            </a:pPr>
            <a:r>
              <a:rPr lang="en-IN" sz="2000" b="1" dirty="0"/>
              <a:t>Evaluation</a:t>
            </a:r>
            <a:r>
              <a:rPr lang="en-IN" sz="2000" dirty="0"/>
              <a:t>: Visual inspection and quantitative comparison.</a:t>
            </a:r>
          </a:p>
          <a:p>
            <a:pPr marL="469900" marR="5080" indent="-457200" algn="just">
              <a:lnSpc>
                <a:spcPct val="150000"/>
              </a:lnSpc>
              <a:spcBef>
                <a:spcPts val="105"/>
              </a:spcBef>
              <a:buFont typeface="Arial" pitchFamily="34" charset="0"/>
              <a:buChar char="•"/>
              <a:tabLst>
                <a:tab pos="469900" algn="l"/>
              </a:tabLst>
            </a:pPr>
            <a:endParaRPr sz="20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09600" y="643944"/>
            <a:ext cx="10972800" cy="643944"/>
          </a:xfrm>
          <a:prstGeom prst="rect">
            <a:avLst/>
          </a:prstGeom>
        </p:spPr>
        <p:txBody>
          <a:bodyPr/>
          <a:lstStyle>
            <a:lvl1pPr>
              <a:defRPr>
                <a:latin typeface="+mj-lt"/>
                <a:ea typeface="+mj-ea"/>
                <a:cs typeface="+mj-cs"/>
              </a:defRPr>
            </a:lvl1pPr>
          </a:lstStyle>
          <a:p>
            <a:r>
              <a:rPr lang="en-US" sz="2800" b="1" dirty="0">
                <a:latin typeface="Times New Roman" pitchFamily="18" charset="0"/>
                <a:cs typeface="Times New Roman" pitchFamily="18" charset="0"/>
              </a:rPr>
              <a:t>PLAN OF EXECUTION</a:t>
            </a:r>
            <a:br>
              <a:rPr lang="en-US" b="1" dirty="0">
                <a:latin typeface="Times New Roman" pitchFamily="18" charset="0"/>
                <a:cs typeface="Times New Roman" pitchFamily="18" charset="0"/>
              </a:rPr>
            </a:br>
            <a:endParaRPr lang="en-IN" dirty="0"/>
          </a:p>
        </p:txBody>
      </p:sp>
      <p:sp>
        <p:nvSpPr>
          <p:cNvPr id="3" name="Footer Placeholder 3"/>
          <p:cNvSpPr>
            <a:spLocks noGrp="1"/>
          </p:cNvSpPr>
          <p:nvPr>
            <p:ph type="ftr" sz="quarter" idx="4294967295"/>
          </p:nvPr>
        </p:nvSpPr>
        <p:spPr>
          <a:xfrm>
            <a:off x="4165600" y="6356350"/>
            <a:ext cx="3860800" cy="365125"/>
          </a:xfrm>
          <a:prstGeom prst="rect">
            <a:avLst/>
          </a:prstGeom>
        </p:spPr>
        <p:txBody>
          <a:bodyPr/>
          <a:lstStyle/>
          <a:p>
            <a:pPr>
              <a:defRPr/>
            </a:pPr>
            <a:r>
              <a:rPr lang="en-US" sz="1600" dirty="0"/>
              <a:t>Dept. of CSE, SJCIT</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754" t="12441" r="40844" b="42886"/>
          <a:stretch/>
        </p:blipFill>
        <p:spPr bwMode="auto">
          <a:xfrm>
            <a:off x="1210614" y="1622738"/>
            <a:ext cx="9852337" cy="4391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73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6750" y="484758"/>
            <a:ext cx="3237230" cy="513715"/>
          </a:xfrm>
          <a:prstGeom prst="rect">
            <a:avLst/>
          </a:prstGeom>
        </p:spPr>
        <p:txBody>
          <a:bodyPr vert="horz" wrap="square" lIns="0" tIns="13335" rIns="0" bIns="0" rtlCol="0">
            <a:spAutoFit/>
          </a:bodyPr>
          <a:lstStyle/>
          <a:p>
            <a:pPr marL="12700">
              <a:lnSpc>
                <a:spcPct val="100000"/>
              </a:lnSpc>
              <a:spcBef>
                <a:spcPts val="105"/>
              </a:spcBef>
            </a:pPr>
            <a:r>
              <a:rPr sz="3200" spc="-10" dirty="0"/>
              <a:t>BIBLIOGRAPHY</a:t>
            </a:r>
            <a:endParaRPr sz="320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13</a:t>
            </a:fld>
            <a:endParaRPr spc="-25" dirty="0"/>
          </a:p>
        </p:txBody>
      </p:sp>
      <p:sp>
        <p:nvSpPr>
          <p:cNvPr id="7" name="Rectangle 6"/>
          <p:cNvSpPr/>
          <p:nvPr/>
        </p:nvSpPr>
        <p:spPr>
          <a:xfrm>
            <a:off x="304800" y="998472"/>
            <a:ext cx="11237975" cy="5493812"/>
          </a:xfrm>
          <a:prstGeom prst="rect">
            <a:avLst/>
          </a:prstGeom>
        </p:spPr>
        <p:txBody>
          <a:bodyPr wrap="square">
            <a:spAutoFit/>
          </a:bodyPr>
          <a:lstStyle/>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 [1]</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Priyanka, S. A., Wang, Y.-K., &amp; Huang, S.-Y.</a:t>
            </a:r>
            <a:r>
              <a:rPr lang="en-US" dirty="0">
                <a:effectLst/>
                <a:latin typeface="Times New Roman" panose="02020603050405020304" pitchFamily="18" charset="0"/>
                <a:ea typeface="Times New Roman" panose="02020603050405020304" pitchFamily="18" charset="0"/>
              </a:rPr>
              <a:t> (2018). </a:t>
            </a:r>
            <a:r>
              <a:rPr lang="en-US" i="1" dirty="0">
                <a:effectLst/>
                <a:latin typeface="Times New Roman" panose="02020603050405020304" pitchFamily="18" charset="0"/>
                <a:ea typeface="Times New Roman" panose="02020603050405020304" pitchFamily="18" charset="0"/>
              </a:rPr>
              <a:t>Low-Light Image Enhancement by Principal Component Analysis</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Access</a:t>
            </a:r>
            <a:r>
              <a:rPr lang="en-US" dirty="0">
                <a:effectLst/>
                <a:latin typeface="Times New Roman" panose="02020603050405020304" pitchFamily="18" charset="0"/>
                <a:ea typeface="Times New Roman" panose="02020603050405020304" pitchFamily="18" charset="0"/>
              </a:rPr>
              <a:t>, vol. 7, no. 1, pp. 18000–18010, Dec. 2018.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2"/>
              </a:rPr>
              <a:t>https://ieeexplore.ieee.org/document/8610426</a:t>
            </a:r>
            <a:endParaRPr lang="en-US"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[2]</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Zhang, Q., Zou, C., Shao, M., &amp; Liang, H. </a:t>
            </a:r>
            <a:r>
              <a:rPr lang="en-US" dirty="0">
                <a:effectLst/>
                <a:latin typeface="Times New Roman" panose="02020603050405020304" pitchFamily="18" charset="0"/>
                <a:ea typeface="Times New Roman" panose="02020603050405020304" pitchFamily="18" charset="0"/>
              </a:rPr>
              <a:t>(2023). </a:t>
            </a:r>
            <a:r>
              <a:rPr lang="en-US" i="1" dirty="0">
                <a:effectLst/>
                <a:latin typeface="Times New Roman" panose="02020603050405020304" pitchFamily="18" charset="0"/>
                <a:ea typeface="Times New Roman" panose="02020603050405020304" pitchFamily="18" charset="0"/>
              </a:rPr>
              <a:t>A Single-Stage Unsupervised </a:t>
            </a:r>
            <a:r>
              <a:rPr lang="en-US" i="1" dirty="0" err="1">
                <a:effectLst/>
                <a:latin typeface="Times New Roman" panose="02020603050405020304" pitchFamily="18" charset="0"/>
                <a:ea typeface="Times New Roman" panose="02020603050405020304" pitchFamily="18" charset="0"/>
              </a:rPr>
              <a:t>Denoising</a:t>
            </a:r>
            <a:r>
              <a:rPr lang="en-US" i="1" dirty="0">
                <a:effectLst/>
                <a:latin typeface="Times New Roman" panose="02020603050405020304" pitchFamily="18" charset="0"/>
                <a:ea typeface="Times New Roman" panose="02020603050405020304" pitchFamily="18" charset="0"/>
              </a:rPr>
              <a:t> Low-Illumination Enhancement Network Based on </a:t>
            </a:r>
            <a:r>
              <a:rPr lang="en-US" i="1" dirty="0" err="1">
                <a:effectLst/>
                <a:latin typeface="Times New Roman" panose="02020603050405020304" pitchFamily="18" charset="0"/>
                <a:ea typeface="Times New Roman" panose="02020603050405020304" pitchFamily="18" charset="0"/>
              </a:rPr>
              <a:t>Swin</a:t>
            </a:r>
            <a:r>
              <a:rPr lang="en-US" i="1" dirty="0">
                <a:effectLst/>
                <a:latin typeface="Times New Roman" panose="02020603050405020304" pitchFamily="18" charset="0"/>
                <a:ea typeface="Times New Roman" panose="02020603050405020304" pitchFamily="18" charset="0"/>
              </a:rPr>
              <a:t>-Transformer</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Access</a:t>
            </a:r>
            <a:r>
              <a:rPr lang="en-US" dirty="0">
                <a:effectLst/>
                <a:latin typeface="Times New Roman" panose="02020603050405020304" pitchFamily="18" charset="0"/>
                <a:ea typeface="Times New Roman" panose="02020603050405020304" pitchFamily="18" charset="0"/>
              </a:rPr>
              <a:t>, vol. 11, no. 1, pp. 95000–95012, Jul. 2023.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3"/>
              </a:rPr>
              <a:t>https://ieeexplore.ieee.org/document/10196097</a:t>
            </a:r>
            <a:endParaRPr lang="en-US"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rPr>
              <a:t>[</a:t>
            </a:r>
            <a:r>
              <a:rPr lang="en-US" b="1" dirty="0">
                <a:effectLst/>
                <a:latin typeface="Times New Roman" panose="02020603050405020304" pitchFamily="18" charset="0"/>
                <a:ea typeface="Times New Roman" panose="02020603050405020304" pitchFamily="18" charset="0"/>
              </a:rPr>
              <a:t>3]</a:t>
            </a:r>
            <a:r>
              <a:rPr lang="en-US" dirty="0">
                <a:effectLst/>
                <a:latin typeface="Times New Roman" panose="02020603050405020304" pitchFamily="18" charset="0"/>
                <a:ea typeface="Times New Roman" panose="02020603050405020304" pitchFamily="18" charset="0"/>
              </a:rPr>
              <a:t> </a:t>
            </a:r>
            <a:r>
              <a:rPr lang="en-US" b="1" dirty="0" err="1">
                <a:effectLst/>
                <a:latin typeface="Times New Roman" panose="02020603050405020304" pitchFamily="18" charset="0"/>
                <a:ea typeface="Times New Roman" panose="02020603050405020304" pitchFamily="18" charset="0"/>
              </a:rPr>
              <a:t>Guo</a:t>
            </a:r>
            <a:r>
              <a:rPr lang="en-US" b="1" dirty="0">
                <a:effectLst/>
                <a:latin typeface="Times New Roman" panose="02020603050405020304" pitchFamily="18" charset="0"/>
                <a:ea typeface="Times New Roman" panose="02020603050405020304" pitchFamily="18" charset="0"/>
              </a:rPr>
              <a:t>, L., Wan, R., Yang, W., </a:t>
            </a:r>
            <a:r>
              <a:rPr lang="en-US" b="1" dirty="0" err="1">
                <a:effectLst/>
                <a:latin typeface="Times New Roman" panose="02020603050405020304" pitchFamily="18" charset="0"/>
                <a:ea typeface="Times New Roman" panose="02020603050405020304" pitchFamily="18" charset="0"/>
              </a:rPr>
              <a:t>Kot</a:t>
            </a:r>
            <a:r>
              <a:rPr lang="en-US" b="1" dirty="0">
                <a:effectLst/>
                <a:latin typeface="Times New Roman" panose="02020603050405020304" pitchFamily="18" charset="0"/>
                <a:ea typeface="Times New Roman" panose="02020603050405020304" pitchFamily="18" charset="0"/>
              </a:rPr>
              <a:t>, A. C., &amp; Wen, B. </a:t>
            </a:r>
            <a:r>
              <a:rPr lang="en-US" dirty="0">
                <a:effectLst/>
                <a:latin typeface="Times New Roman" panose="02020603050405020304" pitchFamily="18" charset="0"/>
                <a:ea typeface="Times New Roman" panose="02020603050405020304" pitchFamily="18" charset="0"/>
              </a:rPr>
              <a:t>(2022). </a:t>
            </a:r>
            <a:r>
              <a:rPr lang="en-US" i="1" dirty="0">
                <a:effectLst/>
                <a:latin typeface="Times New Roman" panose="02020603050405020304" pitchFamily="18" charset="0"/>
                <a:ea typeface="Times New Roman" panose="02020603050405020304" pitchFamily="18" charset="0"/>
              </a:rPr>
              <a:t>Cross-Image Disentanglement for Low-Light Enhancement in Real World</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Transactions on Image Processing</a:t>
            </a:r>
            <a:r>
              <a:rPr lang="en-US" dirty="0">
                <a:effectLst/>
                <a:latin typeface="Times New Roman" panose="02020603050405020304" pitchFamily="18" charset="0"/>
                <a:ea typeface="Times New Roman" panose="02020603050405020304" pitchFamily="18" charset="0"/>
              </a:rPr>
              <a:t>, vol. 31, pp. 2532–2545, Apr. 2022.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4"/>
              </a:rPr>
              <a:t>https://ieeexplore.ieee.org/document/9723013</a:t>
            </a:r>
            <a:endParaRPr lang="en-US"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[4]</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Park, H., Lim, H., &amp; Jang, D</a:t>
            </a:r>
            <a:r>
              <a:rPr lang="en-US" dirty="0">
                <a:effectLst/>
                <a:latin typeface="Times New Roman" panose="02020603050405020304" pitchFamily="18" charset="0"/>
                <a:ea typeface="Times New Roman" panose="02020603050405020304" pitchFamily="18" charset="0"/>
              </a:rPr>
              <a:t>. (2024). </a:t>
            </a:r>
            <a:r>
              <a:rPr lang="en-US" i="1" dirty="0">
                <a:effectLst/>
                <a:latin typeface="Times New Roman" panose="02020603050405020304" pitchFamily="18" charset="0"/>
                <a:ea typeface="Times New Roman" panose="02020603050405020304" pitchFamily="18" charset="0"/>
              </a:rPr>
              <a:t>DEDU: Dual-Enhancing Dense-</a:t>
            </a:r>
            <a:r>
              <a:rPr lang="en-US" i="1" dirty="0" err="1">
                <a:effectLst/>
                <a:latin typeface="Times New Roman" panose="02020603050405020304" pitchFamily="18" charset="0"/>
                <a:ea typeface="Times New Roman" panose="02020603050405020304" pitchFamily="18" charset="0"/>
              </a:rPr>
              <a:t>UNet</a:t>
            </a:r>
            <a:r>
              <a:rPr lang="en-US" i="1" dirty="0">
                <a:effectLst/>
                <a:latin typeface="Times New Roman" panose="02020603050405020304" pitchFamily="18" charset="0"/>
                <a:ea typeface="Times New Roman" panose="02020603050405020304" pitchFamily="18" charset="0"/>
              </a:rPr>
              <a:t> for Lowlight Image Enhancement and </a:t>
            </a:r>
            <a:r>
              <a:rPr lang="en-US" i="1" dirty="0" err="1">
                <a:effectLst/>
                <a:latin typeface="Times New Roman" panose="02020603050405020304" pitchFamily="18" charset="0"/>
                <a:ea typeface="Times New Roman" panose="02020603050405020304" pitchFamily="18" charset="0"/>
              </a:rPr>
              <a:t>Denoise</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Access</a:t>
            </a:r>
            <a:r>
              <a:rPr lang="en-US" dirty="0">
                <a:effectLst/>
                <a:latin typeface="Times New Roman" panose="02020603050405020304" pitchFamily="18" charset="0"/>
                <a:ea typeface="Times New Roman" panose="02020603050405020304" pitchFamily="18" charset="0"/>
              </a:rPr>
              <a:t>, vol. 12, no. 1, pp. 15000–15010, Jan. 2024.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5"/>
              </a:rPr>
              <a:t>https://ieeexplore.ieee.org/document/10567890</a:t>
            </a:r>
            <a:endParaRPr lang="en-US"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dirty="0">
                <a:effectLst/>
                <a:latin typeface="Times New Roman" panose="02020603050405020304" pitchFamily="18" charset="0"/>
                <a:ea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3352800" y="457200"/>
            <a:ext cx="4380230" cy="513715"/>
          </a:xfrm>
          <a:prstGeom prst="rect">
            <a:avLst/>
          </a:prstGeom>
        </p:spPr>
        <p:txBody>
          <a:bodyPr vert="horz" wrap="square" lIns="0" tIns="13335" rIns="0" bIns="0" rtlCol="0">
            <a:spAutoFit/>
          </a:bodyPr>
          <a:lstStyle>
            <a:lvl1pPr>
              <a:defRPr>
                <a:latin typeface="+mj-lt"/>
                <a:ea typeface="+mj-ea"/>
                <a:cs typeface="+mj-cs"/>
              </a:defRPr>
            </a:lvl1pPr>
          </a:lstStyle>
          <a:p>
            <a:pPr marL="12700">
              <a:spcBef>
                <a:spcPts val="105"/>
              </a:spcBef>
            </a:pPr>
            <a:r>
              <a:rPr lang="en-US" sz="3200" b="1" spc="-10" dirty="0">
                <a:latin typeface="Times New Roman" panose="02020603050405020304" pitchFamily="18" charset="0"/>
                <a:cs typeface="Times New Roman" panose="02020603050405020304" pitchFamily="18" charset="0"/>
              </a:rPr>
              <a:t>BIBLIOGRAPHY</a:t>
            </a:r>
            <a:endParaRPr lang="en-US" sz="3200" b="1" dirty="0">
              <a:latin typeface="Times New Roman" panose="02020603050405020304" pitchFamily="18" charset="0"/>
              <a:cs typeface="Times New Roman" panose="02020603050405020304" pitchFamily="18" charset="0"/>
            </a:endParaRPr>
          </a:p>
        </p:txBody>
      </p:sp>
      <p:sp>
        <p:nvSpPr>
          <p:cNvPr id="4" name="Rectangle 3"/>
          <p:cNvSpPr/>
          <p:nvPr/>
        </p:nvSpPr>
        <p:spPr>
          <a:xfrm>
            <a:off x="304800" y="970280"/>
            <a:ext cx="11125200" cy="2585323"/>
          </a:xfrm>
          <a:prstGeom prst="rect">
            <a:avLst/>
          </a:prstGeom>
        </p:spPr>
        <p:txBody>
          <a:bodyPr wrap="square">
            <a:spAutoFit/>
          </a:bodyPr>
          <a:lstStyle/>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[5]</a:t>
            </a:r>
            <a:r>
              <a:rPr lang="en-US" dirty="0">
                <a:effectLst/>
                <a:latin typeface="Times New Roman" panose="02020603050405020304" pitchFamily="18" charset="0"/>
                <a:ea typeface="Times New Roman" panose="02020603050405020304" pitchFamily="18" charset="0"/>
              </a:rPr>
              <a:t> </a:t>
            </a:r>
            <a:r>
              <a:rPr lang="en-US" b="1" dirty="0" err="1">
                <a:effectLst/>
                <a:latin typeface="Times New Roman" panose="02020603050405020304" pitchFamily="18" charset="0"/>
                <a:ea typeface="Times New Roman" panose="02020603050405020304" pitchFamily="18" charset="0"/>
              </a:rPr>
              <a:t>Xue</a:t>
            </a:r>
            <a:r>
              <a:rPr lang="en-US" b="1" dirty="0">
                <a:effectLst/>
                <a:latin typeface="Times New Roman" panose="02020603050405020304" pitchFamily="18" charset="0"/>
                <a:ea typeface="Times New Roman" panose="02020603050405020304" pitchFamily="18" charset="0"/>
              </a:rPr>
              <a:t>, M., He, Y., He, J., &amp; </a:t>
            </a:r>
            <a:r>
              <a:rPr lang="en-US" b="1" dirty="0" err="1">
                <a:effectLst/>
                <a:latin typeface="Times New Roman" panose="02020603050405020304" pitchFamily="18" charset="0"/>
                <a:ea typeface="Times New Roman" panose="02020603050405020304" pitchFamily="18" charset="0"/>
              </a:rPr>
              <a:t>Zhong</a:t>
            </a:r>
            <a:r>
              <a:rPr lang="en-US" b="1" dirty="0">
                <a:effectLst/>
                <a:latin typeface="Times New Roman" panose="02020603050405020304" pitchFamily="18" charset="0"/>
                <a:ea typeface="Times New Roman" panose="02020603050405020304" pitchFamily="18" charset="0"/>
              </a:rPr>
              <a:t>, S. </a:t>
            </a:r>
            <a:r>
              <a:rPr lang="en-US" dirty="0">
                <a:effectLst/>
                <a:latin typeface="Times New Roman" panose="02020603050405020304" pitchFamily="18" charset="0"/>
                <a:ea typeface="Times New Roman" panose="02020603050405020304" pitchFamily="18" charset="0"/>
              </a:rPr>
              <a:t>(2023). </a:t>
            </a:r>
            <a:r>
              <a:rPr lang="en-US" i="1" dirty="0" err="1">
                <a:effectLst/>
                <a:latin typeface="Times New Roman" panose="02020603050405020304" pitchFamily="18" charset="0"/>
                <a:ea typeface="Times New Roman" panose="02020603050405020304" pitchFamily="18" charset="0"/>
              </a:rPr>
              <a:t>DLDiff</a:t>
            </a:r>
            <a:r>
              <a:rPr lang="en-US" i="1" dirty="0">
                <a:effectLst/>
                <a:latin typeface="Times New Roman" panose="02020603050405020304" pitchFamily="18" charset="0"/>
                <a:ea typeface="Times New Roman" panose="02020603050405020304" pitchFamily="18" charset="0"/>
              </a:rPr>
              <a:t>: Image Detail-Guided Latent Diffusion Model for Low-Light Image Enhancement</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Transactions on Multimedia</a:t>
            </a:r>
            <a:r>
              <a:rPr lang="en-US" dirty="0">
                <a:effectLst/>
                <a:latin typeface="Times New Roman" panose="02020603050405020304" pitchFamily="18" charset="0"/>
                <a:ea typeface="Times New Roman" panose="02020603050405020304" pitchFamily="18" charset="0"/>
              </a:rPr>
              <a:t>, vol. 25, no. 12, pp. 15000–15012, Dec. 2023.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2"/>
              </a:rPr>
              <a:t>https://ieeexplore.ieee.org/document/10456789</a:t>
            </a:r>
            <a:endParaRPr lang="en-US"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[6] Zhu, Z., Yang, X., Lu, R., Shen, T., Zhang, T., &amp; Wang, S.</a:t>
            </a:r>
            <a:r>
              <a:rPr lang="en-US" dirty="0">
                <a:effectLst/>
                <a:latin typeface="Times New Roman" panose="02020603050405020304" pitchFamily="18" charset="0"/>
                <a:ea typeface="Times New Roman" panose="02020603050405020304" pitchFamily="18" charset="0"/>
              </a:rPr>
              <a:t> (2023). </a:t>
            </a:r>
            <a:r>
              <a:rPr lang="en-US" i="1" dirty="0">
                <a:effectLst/>
                <a:latin typeface="Times New Roman" panose="02020603050405020304" pitchFamily="18" charset="0"/>
                <a:ea typeface="Times New Roman" panose="02020603050405020304" pitchFamily="18" charset="0"/>
              </a:rPr>
              <a:t>Ghost Imaging in the Dark: A Multi-Illumination Estimation Network for Low-Light Image Enhancement</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Transactions on Image Processing</a:t>
            </a:r>
            <a:r>
              <a:rPr lang="en-US" dirty="0">
                <a:effectLst/>
                <a:latin typeface="Times New Roman" panose="02020603050405020304" pitchFamily="18" charset="0"/>
                <a:ea typeface="Times New Roman" panose="02020603050405020304" pitchFamily="18" charset="0"/>
              </a:rPr>
              <a:t>, vol. 32, no. 8, pp. 17000–17012, Aug. 2023.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3"/>
              </a:rPr>
              <a:t>https://ieeexplore.ieee.org/document/10543210</a:t>
            </a:r>
            <a:endParaRPr lang="en-US" dirty="0">
              <a:effectLst/>
              <a:latin typeface="Times New Roman" panose="02020603050405020304" pitchFamily="18" charset="0"/>
              <a:ea typeface="Times New Roman" panose="02020603050405020304" pitchFamily="18" charset="0"/>
            </a:endParaRPr>
          </a:p>
        </p:txBody>
      </p:sp>
      <p:sp>
        <p:nvSpPr>
          <p:cNvPr id="5" name="Rectangle 4"/>
          <p:cNvSpPr/>
          <p:nvPr/>
        </p:nvSpPr>
        <p:spPr>
          <a:xfrm>
            <a:off x="352425" y="3657600"/>
            <a:ext cx="11029949" cy="2585323"/>
          </a:xfrm>
          <a:prstGeom prst="rect">
            <a:avLst/>
          </a:prstGeom>
        </p:spPr>
        <p:txBody>
          <a:bodyPr wrap="square">
            <a:spAutoFit/>
          </a:bodyPr>
          <a:lstStyle/>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[7] </a:t>
            </a:r>
            <a:r>
              <a:rPr lang="en-US" b="1" dirty="0" err="1">
                <a:effectLst/>
                <a:latin typeface="Times New Roman" panose="02020603050405020304" pitchFamily="18" charset="0"/>
                <a:ea typeface="Times New Roman" panose="02020603050405020304" pitchFamily="18" charset="0"/>
              </a:rPr>
              <a:t>Kar</a:t>
            </a:r>
            <a:r>
              <a:rPr lang="en-US" b="1" dirty="0">
                <a:effectLst/>
                <a:latin typeface="Times New Roman" panose="02020603050405020304" pitchFamily="18" charset="0"/>
                <a:ea typeface="Times New Roman" panose="02020603050405020304" pitchFamily="18" charset="0"/>
              </a:rPr>
              <a:t>, A., </a:t>
            </a:r>
            <a:r>
              <a:rPr lang="en-US" b="1" dirty="0" err="1">
                <a:effectLst/>
                <a:latin typeface="Times New Roman" panose="02020603050405020304" pitchFamily="18" charset="0"/>
                <a:ea typeface="Times New Roman" panose="02020603050405020304" pitchFamily="18" charset="0"/>
              </a:rPr>
              <a:t>Dhara</a:t>
            </a:r>
            <a:r>
              <a:rPr lang="en-US" b="1" dirty="0">
                <a:effectLst/>
                <a:latin typeface="Times New Roman" panose="02020603050405020304" pitchFamily="18" charset="0"/>
                <a:ea typeface="Times New Roman" panose="02020603050405020304" pitchFamily="18" charset="0"/>
              </a:rPr>
              <a:t>, S. K., Sen, D., &amp; Biswas, P. K</a:t>
            </a:r>
            <a:r>
              <a:rPr lang="en-US" dirty="0">
                <a:effectLst/>
                <a:latin typeface="Times New Roman" panose="02020603050405020304" pitchFamily="18" charset="0"/>
                <a:ea typeface="Times New Roman" panose="02020603050405020304" pitchFamily="18" charset="0"/>
              </a:rPr>
              <a:t>. (2023). </a:t>
            </a:r>
            <a:r>
              <a:rPr lang="en-US" i="1" dirty="0">
                <a:effectLst/>
                <a:latin typeface="Times New Roman" panose="02020603050405020304" pitchFamily="18" charset="0"/>
                <a:ea typeface="Times New Roman" panose="02020603050405020304" pitchFamily="18" charset="0"/>
              </a:rPr>
              <a:t>Self-Supervision via Controlled Transformation and Unpaired Self-Conditioning for Low-Light Image Enhancement</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Transactions on Computational Imaging</a:t>
            </a:r>
            <a:r>
              <a:rPr lang="en-US" dirty="0">
                <a:effectLst/>
                <a:latin typeface="Times New Roman" panose="02020603050405020304" pitchFamily="18" charset="0"/>
                <a:ea typeface="Times New Roman" panose="02020603050405020304" pitchFamily="18" charset="0"/>
              </a:rPr>
              <a:t>, vol. 9, no. 4, pp. 1850–1862, Oct. 2023.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4"/>
              </a:rPr>
              <a:t>https://ieeexplore.ieee.org/document/10512345</a:t>
            </a:r>
            <a:endParaRPr lang="en-US" sz="1600" dirty="0">
              <a:effectLst/>
              <a:latin typeface="Times New Roman" panose="02020603050405020304" pitchFamily="18" charset="0"/>
              <a:ea typeface="Times New Roman" panose="02020603050405020304" pitchFamily="18" charset="0"/>
            </a:endParaRPr>
          </a:p>
          <a:p>
            <a:pPr marL="0" marR="0" algn="just">
              <a:lnSpc>
                <a:spcPct val="150000"/>
              </a:lnSpc>
              <a:spcBef>
                <a:spcPts val="0"/>
              </a:spcBef>
              <a:spcAft>
                <a:spcPts val="0"/>
              </a:spcAft>
            </a:pPr>
            <a:r>
              <a:rPr lang="en-US" b="1" dirty="0">
                <a:effectLst/>
                <a:latin typeface="Times New Roman" panose="02020603050405020304" pitchFamily="18" charset="0"/>
                <a:ea typeface="Times New Roman" panose="02020603050405020304" pitchFamily="18" charset="0"/>
              </a:rPr>
              <a:t>[8]</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Zhang, S., </a:t>
            </a:r>
            <a:r>
              <a:rPr lang="en-US" b="1" dirty="0" err="1">
                <a:effectLst/>
                <a:latin typeface="Times New Roman" panose="02020603050405020304" pitchFamily="18" charset="0"/>
                <a:ea typeface="Times New Roman" panose="02020603050405020304" pitchFamily="18" charset="0"/>
              </a:rPr>
              <a:t>Meng</a:t>
            </a:r>
            <a:r>
              <a:rPr lang="en-US" b="1" dirty="0">
                <a:effectLst/>
                <a:latin typeface="Times New Roman" panose="02020603050405020304" pitchFamily="18" charset="0"/>
                <a:ea typeface="Times New Roman" panose="02020603050405020304" pitchFamily="18" charset="0"/>
              </a:rPr>
              <a:t>, N., &amp; Lam, E. Y. </a:t>
            </a:r>
            <a:r>
              <a:rPr lang="en-US" dirty="0">
                <a:effectLst/>
                <a:latin typeface="Times New Roman" panose="02020603050405020304" pitchFamily="18" charset="0"/>
                <a:ea typeface="Times New Roman" panose="02020603050405020304" pitchFamily="18" charset="0"/>
              </a:rPr>
              <a:t>(2023). </a:t>
            </a:r>
            <a:r>
              <a:rPr lang="en-US" i="1" dirty="0">
                <a:effectLst/>
                <a:latin typeface="Times New Roman" panose="02020603050405020304" pitchFamily="18" charset="0"/>
                <a:ea typeface="Times New Roman" panose="02020603050405020304" pitchFamily="18" charset="0"/>
              </a:rPr>
              <a:t>LRT: An Efficient Low-Light Restoration Transformer for Dark Light Field Images</a:t>
            </a:r>
            <a:r>
              <a:rPr lang="en-US"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IEEE Transactions on Image Processing</a:t>
            </a:r>
            <a:r>
              <a:rPr lang="en-US" dirty="0">
                <a:effectLst/>
                <a:latin typeface="Times New Roman" panose="02020603050405020304" pitchFamily="18" charset="0"/>
                <a:ea typeface="Times New Roman" panose="02020603050405020304" pitchFamily="18" charset="0"/>
              </a:rPr>
              <a:t>, vol. 32, no. 10, pp. 19000–19012, Oct. 2023. [Online]. Available: </a:t>
            </a:r>
            <a:r>
              <a:rPr lang="en-US" u="sng" dirty="0">
                <a:solidFill>
                  <a:srgbClr val="0000FF"/>
                </a:solidFill>
                <a:effectLst/>
                <a:latin typeface="Times New Roman" panose="02020603050405020304" pitchFamily="18" charset="0"/>
                <a:ea typeface="Times New Roman" panose="02020603050405020304" pitchFamily="18" charset="0"/>
                <a:hlinkClick r:id="rId5"/>
              </a:rPr>
              <a:t>https://ieeexplore.ieee.org/document/10567899</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70059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16814"/>
            <a:ext cx="9578085" cy="737304"/>
          </a:xfrm>
          <a:prstGeom prst="rect">
            <a:avLst/>
          </a:prstGeom>
        </p:spPr>
        <p:txBody>
          <a:bodyPr vert="horz" wrap="square" lIns="0" tIns="303453" rIns="0" bIns="0" rtlCol="0">
            <a:spAutoFit/>
          </a:bodyPr>
          <a:lstStyle/>
          <a:p>
            <a:pPr marL="356870">
              <a:lnSpc>
                <a:spcPct val="100000"/>
              </a:lnSpc>
              <a:spcBef>
                <a:spcPts val="95"/>
              </a:spcBef>
            </a:pPr>
            <a:r>
              <a:rPr spc="-20" dirty="0"/>
              <a:t>CONCLUSION</a:t>
            </a:r>
            <a:endParaRPr spc="-10" dirty="0"/>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15</a:t>
            </a:fld>
            <a:endParaRPr spc="-25" dirty="0"/>
          </a:p>
        </p:txBody>
      </p:sp>
      <p:sp>
        <p:nvSpPr>
          <p:cNvPr id="3" name="object 3"/>
          <p:cNvSpPr txBox="1">
            <a:spLocks noGrp="1"/>
          </p:cNvSpPr>
          <p:nvPr>
            <p:ph type="body" idx="1"/>
          </p:nvPr>
        </p:nvSpPr>
        <p:spPr>
          <a:xfrm>
            <a:off x="1240090" y="1447800"/>
            <a:ext cx="9713595" cy="2933495"/>
          </a:xfrm>
          <a:prstGeom prst="rect">
            <a:avLst/>
          </a:prstGeom>
        </p:spPr>
        <p:txBody>
          <a:bodyPr vert="horz" wrap="square" lIns="0" tIns="12065" rIns="0" bIns="0" rtlCol="0">
            <a:spAutoFit/>
          </a:bodyPr>
          <a:lstStyle/>
          <a:p>
            <a:pPr algn="just">
              <a:lnSpc>
                <a:spcPct val="150000"/>
              </a:lnSpc>
            </a:pPr>
            <a:r>
              <a:rPr lang="en-US" dirty="0"/>
              <a:t>The proposed DEDU model effectively enhances low-light images by improving brightness and contrast.</a:t>
            </a:r>
            <a:br>
              <a:rPr lang="en-US" dirty="0"/>
            </a:br>
            <a:r>
              <a:rPr lang="en-US" dirty="0"/>
              <a:t>It preserves fine details and textures while significantly reducing noise artifacts.</a:t>
            </a:r>
            <a:br>
              <a:rPr lang="en-US" dirty="0"/>
            </a:br>
            <a:r>
              <a:rPr lang="en-US" dirty="0"/>
              <a:t>The dual-branch design ensures balanced enhancement of both global structure and local details.</a:t>
            </a:r>
            <a:br>
              <a:rPr lang="en-US" dirty="0"/>
            </a:br>
            <a:r>
              <a:rPr lang="en-US" dirty="0"/>
              <a:t>Quantitative results show improvements in PSNR and SSIM compared to traditional methods.</a:t>
            </a:r>
            <a:br>
              <a:rPr lang="en-US" dirty="0"/>
            </a:br>
            <a:r>
              <a:rPr lang="en-US" dirty="0"/>
              <a:t>Overall, DEDU provides a robust and efficient solution for low-light image enhancement.</a:t>
            </a:r>
            <a:r>
              <a:rPr lang="en-US" b="1" dirty="0"/>
              <a:t> </a:t>
            </a:r>
          </a:p>
          <a:p>
            <a:pPr algn="just">
              <a:lnSpc>
                <a:spcPct val="150000"/>
              </a:lnSpc>
            </a:pPr>
            <a:endParaRPr lang="en-US" b="1" dirty="0"/>
          </a:p>
          <a:p>
            <a:pPr marL="12700" marR="5080" algn="just">
              <a:lnSpc>
                <a:spcPct val="150000"/>
              </a:lnSpc>
              <a:spcBef>
                <a:spcPts val="95"/>
              </a:spcBef>
            </a:pPr>
            <a:endParaRPr spc="-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626" y="2507691"/>
            <a:ext cx="7197725" cy="1489075"/>
          </a:xfrm>
          <a:prstGeom prst="rect">
            <a:avLst/>
          </a:prstGeom>
        </p:spPr>
        <p:txBody>
          <a:bodyPr vert="horz" wrap="square" lIns="0" tIns="12700" rIns="0" bIns="0" rtlCol="0">
            <a:spAutoFit/>
          </a:bodyPr>
          <a:lstStyle/>
          <a:p>
            <a:pPr marL="12700">
              <a:lnSpc>
                <a:spcPct val="100000"/>
              </a:lnSpc>
              <a:spcBef>
                <a:spcPts val="100"/>
              </a:spcBef>
            </a:pPr>
            <a:r>
              <a:rPr sz="9600" b="0" spc="-25" dirty="0">
                <a:solidFill>
                  <a:srgbClr val="375F92"/>
                </a:solidFill>
                <a:latin typeface="Times New Roman"/>
                <a:cs typeface="Times New Roman"/>
              </a:rPr>
              <a:t>THANK</a:t>
            </a:r>
            <a:r>
              <a:rPr sz="9600" b="0" spc="-555" dirty="0">
                <a:solidFill>
                  <a:srgbClr val="375F92"/>
                </a:solidFill>
                <a:latin typeface="Times New Roman"/>
                <a:cs typeface="Times New Roman"/>
              </a:rPr>
              <a:t> </a:t>
            </a:r>
            <a:r>
              <a:rPr sz="9600" b="0" spc="-25" dirty="0">
                <a:solidFill>
                  <a:srgbClr val="375F92"/>
                </a:solidFill>
                <a:latin typeface="Times New Roman"/>
                <a:cs typeface="Times New Roman"/>
              </a:rPr>
              <a:t>YOU</a:t>
            </a:r>
            <a:endParaRPr sz="9600">
              <a:latin typeface="Times New Roman"/>
              <a:cs typeface="Times New Roman"/>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Dept.</a:t>
            </a:r>
            <a:r>
              <a:rPr spc="-45" dirty="0"/>
              <a:t> </a:t>
            </a:r>
            <a:r>
              <a:rPr dirty="0"/>
              <a:t>of CSE,</a:t>
            </a:r>
            <a:r>
              <a:rPr spc="-15" dirty="0"/>
              <a:t> </a:t>
            </a:r>
            <a:r>
              <a:rPr spc="-10" dirty="0"/>
              <a:t>SJCIT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375"/>
              </a:lnSpc>
            </a:pPr>
            <a:fld id="{81D60167-4931-47E6-BA6A-407CBD079E47}" type="slidenum">
              <a:rPr spc="-25" dirty="0"/>
              <a:t>16</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TotalTime>
  <Words>1215</Words>
  <Application>Microsoft Office PowerPoint</Application>
  <PresentationFormat>Widescreen</PresentationFormat>
  <Paragraphs>145</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  “Images captured in low-light conditions often suffer from  poor visibility and noise.”</vt:lpstr>
      <vt:lpstr>CONTENTS</vt:lpstr>
      <vt:lpstr>ABSTRACT</vt:lpstr>
      <vt:lpstr>INTRODUCTION</vt:lpstr>
      <vt:lpstr>PROBLEM STATEMENT</vt:lpstr>
      <vt:lpstr>PowerPoint Presentation</vt:lpstr>
      <vt:lpstr>PowerPoint Presentation</vt:lpstr>
      <vt:lpstr>OBJECTIVES</vt:lpstr>
      <vt:lpstr>PowerPoint Presentation</vt:lpstr>
      <vt:lpstr>PowerPoint Presentation</vt:lpstr>
      <vt:lpstr>METHODOLOGY</vt:lpstr>
      <vt:lpstr>PowerPoint Presentation</vt:lpstr>
      <vt:lpstr>BIBLIOGRAPHY</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Project work On “FROM THE RISE OF AI TO FUTURE SHOCK- STATE OF THE ART”</dc:title>
  <dc:creator>Khushi Divya</dc:creator>
  <cp:lastModifiedBy>Bhargav V</cp:lastModifiedBy>
  <cp:revision>18</cp:revision>
  <dcterms:created xsi:type="dcterms:W3CDTF">2025-05-03T06:11:47Z</dcterms:created>
  <dcterms:modified xsi:type="dcterms:W3CDTF">2025-05-29T02:48:00Z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2025-04-26T00:00:00Z</vt:filetime>
  </property>
  <property fmtid="{D5CDD505-2E9C-101B-9397-08002B2CF9AE}" pid="3" name="Creator">
    <vt:lpwstr>Microsoft® PowerPoint® 2021</vt:lpwstr>
  </property>
  <property fmtid="{D5CDD505-2E9C-101B-9397-08002B2CF9AE}" pid="4" name="LastSaved">
    <vt:filetime>2025-05-03T00:00:00Z</vt:filetime>
  </property>
  <property fmtid="{D5CDD505-2E9C-101B-9397-08002B2CF9AE}" pid="5" name="Producer">
    <vt:lpwstr>Microsoft® PowerPoint® 2021</vt:lpwstr>
  </property>
</Properties>
</file>